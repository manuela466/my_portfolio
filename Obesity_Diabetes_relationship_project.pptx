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5" r:id="rId1"/>
  </p:sldMasterIdLst>
  <p:notesMasterIdLst>
    <p:notesMasterId r:id="rId17"/>
  </p:notesMasterIdLst>
  <p:sldIdLst>
    <p:sldId id="260" r:id="rId2"/>
    <p:sldId id="257" r:id="rId3"/>
    <p:sldId id="261" r:id="rId4"/>
    <p:sldId id="262" r:id="rId5"/>
    <p:sldId id="263" r:id="rId6"/>
    <p:sldId id="264" r:id="rId7"/>
    <p:sldId id="265" r:id="rId8"/>
    <p:sldId id="266" r:id="rId9"/>
    <p:sldId id="267" r:id="rId10"/>
    <p:sldId id="270" r:id="rId11"/>
    <p:sldId id="268" r:id="rId12"/>
    <p:sldId id="269" r:id="rId13"/>
    <p:sldId id="273" r:id="rId14"/>
    <p:sldId id="272"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59"/>
    <p:restoredTop sz="94489"/>
  </p:normalViewPr>
  <p:slideViewPr>
    <p:cSldViewPr snapToGrid="0">
      <p:cViewPr varScale="1">
        <p:scale>
          <a:sx n="102" d="100"/>
          <a:sy n="102" d="100"/>
        </p:scale>
        <p:origin x="33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08105B-F846-8A40-A4FD-C4C228D2C6C6}" type="doc">
      <dgm:prSet loTypeId="urn:microsoft.com/office/officeart/2005/8/layout/hList1" loCatId="list" qsTypeId="urn:microsoft.com/office/officeart/2005/8/quickstyle/simple3" qsCatId="simple" csTypeId="urn:microsoft.com/office/officeart/2005/8/colors/accent1_2" csCatId="accent1" phldr="1"/>
      <dgm:spPr/>
      <dgm:t>
        <a:bodyPr/>
        <a:lstStyle/>
        <a:p>
          <a:endParaRPr lang="en-US"/>
        </a:p>
      </dgm:t>
    </dgm:pt>
    <dgm:pt modelId="{431BAD10-97A7-D641-BEF8-21FDC6AABBA3}">
      <dgm:prSet phldrT="[Text]"/>
      <dgm:spPr/>
      <dgm:t>
        <a:bodyPr/>
        <a:lstStyle/>
        <a:p>
          <a:r>
            <a:rPr lang="en-US" dirty="0"/>
            <a:t>Problem statement</a:t>
          </a:r>
        </a:p>
      </dgm:t>
    </dgm:pt>
    <dgm:pt modelId="{BAE2A965-691D-584A-9633-F0F80995035A}" type="parTrans" cxnId="{C809B1B9-8E0B-3944-8099-61672E83CA02}">
      <dgm:prSet/>
      <dgm:spPr/>
      <dgm:t>
        <a:bodyPr/>
        <a:lstStyle/>
        <a:p>
          <a:endParaRPr lang="en-US"/>
        </a:p>
      </dgm:t>
    </dgm:pt>
    <dgm:pt modelId="{A16044DB-FFE8-B54A-9D38-F2D24BF5709D}" type="sibTrans" cxnId="{C809B1B9-8E0B-3944-8099-61672E83CA02}">
      <dgm:prSet/>
      <dgm:spPr/>
      <dgm:t>
        <a:bodyPr/>
        <a:lstStyle/>
        <a:p>
          <a:endParaRPr lang="en-US"/>
        </a:p>
      </dgm:t>
    </dgm:pt>
    <dgm:pt modelId="{E9B01616-F881-0543-B80E-1DD7C0692474}">
      <dgm:prSet phldrT="[Text]"/>
      <dgm:spPr>
        <a:solidFill>
          <a:schemeClr val="bg1">
            <a:alpha val="90000"/>
          </a:schemeClr>
        </a:solidFill>
      </dgm:spPr>
      <dgm:t>
        <a:bodyPr/>
        <a:lstStyle/>
        <a:p>
          <a:r>
            <a:rPr lang="en-US" b="0" dirty="0"/>
            <a:t>Obesity tends to have an association with developing diabetes. I will investigate the relation and whether there exists a disparity in this risk factor between the black and Latin communities. I hope to find out if there are statistically significant differences in the prevalence of diabetes and obesity among these racial groups by analyzing relevant data.</a:t>
          </a:r>
        </a:p>
      </dgm:t>
    </dgm:pt>
    <dgm:pt modelId="{20466E17-5D3C-5046-9FA6-0E7113532B6C}" type="parTrans" cxnId="{47AF3234-B54C-6542-8EE4-11A79A848BC8}">
      <dgm:prSet/>
      <dgm:spPr/>
      <dgm:t>
        <a:bodyPr/>
        <a:lstStyle/>
        <a:p>
          <a:endParaRPr lang="en-US"/>
        </a:p>
      </dgm:t>
    </dgm:pt>
    <dgm:pt modelId="{4BCF88BF-BD43-9543-A9E3-5461CAEEACF5}" type="sibTrans" cxnId="{47AF3234-B54C-6542-8EE4-11A79A848BC8}">
      <dgm:prSet/>
      <dgm:spPr/>
      <dgm:t>
        <a:bodyPr/>
        <a:lstStyle/>
        <a:p>
          <a:endParaRPr lang="en-US"/>
        </a:p>
      </dgm:t>
    </dgm:pt>
    <dgm:pt modelId="{2C643D6F-1A40-284B-BCAE-6AD3F5828620}">
      <dgm:prSet phldrT="[Text]"/>
      <dgm:spPr/>
      <dgm:t>
        <a:bodyPr/>
        <a:lstStyle/>
        <a:p>
          <a:r>
            <a:rPr lang="en-US" dirty="0"/>
            <a:t>Question</a:t>
          </a:r>
        </a:p>
      </dgm:t>
    </dgm:pt>
    <dgm:pt modelId="{20D0499D-53B4-9F41-9D2B-7B53213068AD}" type="parTrans" cxnId="{A33301E9-406A-AD4C-92AD-39892ACD407C}">
      <dgm:prSet/>
      <dgm:spPr/>
      <dgm:t>
        <a:bodyPr/>
        <a:lstStyle/>
        <a:p>
          <a:endParaRPr lang="en-US"/>
        </a:p>
      </dgm:t>
    </dgm:pt>
    <dgm:pt modelId="{2A003953-0224-4443-868D-F86362D20DAB}" type="sibTrans" cxnId="{A33301E9-406A-AD4C-92AD-39892ACD407C}">
      <dgm:prSet/>
      <dgm:spPr/>
      <dgm:t>
        <a:bodyPr/>
        <a:lstStyle/>
        <a:p>
          <a:endParaRPr lang="en-US"/>
        </a:p>
      </dgm:t>
    </dgm:pt>
    <dgm:pt modelId="{3C8A4E88-487D-6B45-973D-34ADD382A25C}">
      <dgm:prSet phldrT="[Text]"/>
      <dgm:spPr>
        <a:solidFill>
          <a:schemeClr val="bg1">
            <a:alpha val="90000"/>
          </a:schemeClr>
        </a:solidFill>
        <a:ln>
          <a:solidFill>
            <a:schemeClr val="bg1">
              <a:alpha val="90000"/>
            </a:schemeClr>
          </a:solidFill>
        </a:ln>
      </dgm:spPr>
      <dgm:t>
        <a:bodyPr/>
        <a:lstStyle/>
        <a:p>
          <a:r>
            <a:rPr lang="en-US" dirty="0"/>
            <a:t>What is the relationship between obesity and diabetes in the black community compared to the Latin community?</a:t>
          </a:r>
        </a:p>
      </dgm:t>
    </dgm:pt>
    <dgm:pt modelId="{D3A197B7-41F6-3C4E-88DD-3447028DC6FC}" type="parTrans" cxnId="{E86C22A8-6028-1345-837E-E488C48528CC}">
      <dgm:prSet/>
      <dgm:spPr/>
      <dgm:t>
        <a:bodyPr/>
        <a:lstStyle/>
        <a:p>
          <a:endParaRPr lang="en-US"/>
        </a:p>
      </dgm:t>
    </dgm:pt>
    <dgm:pt modelId="{4D125A23-9893-8448-AA36-CEFF5E0EBB8D}" type="sibTrans" cxnId="{E86C22A8-6028-1345-837E-E488C48528CC}">
      <dgm:prSet/>
      <dgm:spPr/>
      <dgm:t>
        <a:bodyPr/>
        <a:lstStyle/>
        <a:p>
          <a:endParaRPr lang="en-US"/>
        </a:p>
      </dgm:t>
    </dgm:pt>
    <dgm:pt modelId="{34B795B5-CCC5-CD4C-AC07-BDCE91D13FEC}">
      <dgm:prSet phldrT="[Text]"/>
      <dgm:spPr/>
      <dgm:t>
        <a:bodyPr/>
        <a:lstStyle/>
        <a:p>
          <a:r>
            <a:rPr lang="en-US" dirty="0"/>
            <a:t>Hypothesis</a:t>
          </a:r>
        </a:p>
      </dgm:t>
    </dgm:pt>
    <dgm:pt modelId="{AF24B59C-DD76-4241-8D15-2BE56BAA6579}" type="parTrans" cxnId="{FABB63FE-7808-0849-96FE-EE483CBCFAC5}">
      <dgm:prSet/>
      <dgm:spPr/>
      <dgm:t>
        <a:bodyPr/>
        <a:lstStyle/>
        <a:p>
          <a:endParaRPr lang="en-US"/>
        </a:p>
      </dgm:t>
    </dgm:pt>
    <dgm:pt modelId="{876316DB-E9A2-4C45-9540-06F627EDC7CC}" type="sibTrans" cxnId="{FABB63FE-7808-0849-96FE-EE483CBCFAC5}">
      <dgm:prSet/>
      <dgm:spPr/>
      <dgm:t>
        <a:bodyPr/>
        <a:lstStyle/>
        <a:p>
          <a:endParaRPr lang="en-US"/>
        </a:p>
      </dgm:t>
    </dgm:pt>
    <dgm:pt modelId="{8DCAC0C3-A3DF-E94B-A3DA-FE3320FC02D9}">
      <dgm:prSet phldrT="[Text]"/>
      <dgm:spPr>
        <a:solidFill>
          <a:schemeClr val="bg1">
            <a:alpha val="90000"/>
          </a:schemeClr>
        </a:solidFill>
      </dgm:spPr>
      <dgm:t>
        <a:bodyPr/>
        <a:lstStyle/>
        <a:p>
          <a:r>
            <a:rPr lang="en-US" dirty="0"/>
            <a:t>My hypothesis for this research is that obesity is positively associated with the development of diabetes. Furthermore, I anticipate that there will be a slight difference in this risk factor between the black community and the Latin community.</a:t>
          </a:r>
        </a:p>
      </dgm:t>
    </dgm:pt>
    <dgm:pt modelId="{0348E1C9-51E0-4645-AF91-3B36D2ACCE25}" type="parTrans" cxnId="{1178565C-C847-7E4F-A021-DA188B9D90F5}">
      <dgm:prSet/>
      <dgm:spPr/>
      <dgm:t>
        <a:bodyPr/>
        <a:lstStyle/>
        <a:p>
          <a:endParaRPr lang="en-US"/>
        </a:p>
      </dgm:t>
    </dgm:pt>
    <dgm:pt modelId="{30AD515E-DF96-3C49-BB45-3FBC92951F1F}" type="sibTrans" cxnId="{1178565C-C847-7E4F-A021-DA188B9D90F5}">
      <dgm:prSet/>
      <dgm:spPr/>
      <dgm:t>
        <a:bodyPr/>
        <a:lstStyle/>
        <a:p>
          <a:endParaRPr lang="en-US"/>
        </a:p>
      </dgm:t>
    </dgm:pt>
    <dgm:pt modelId="{272A8CD3-043A-9144-AD6D-C60CCCF77445}" type="pres">
      <dgm:prSet presAssocID="{5408105B-F846-8A40-A4FD-C4C228D2C6C6}" presName="Name0" presStyleCnt="0">
        <dgm:presLayoutVars>
          <dgm:dir/>
          <dgm:animLvl val="lvl"/>
          <dgm:resizeHandles val="exact"/>
        </dgm:presLayoutVars>
      </dgm:prSet>
      <dgm:spPr/>
    </dgm:pt>
    <dgm:pt modelId="{CB2D070B-F36E-7E41-A609-0B4F2F7B1DCD}" type="pres">
      <dgm:prSet presAssocID="{431BAD10-97A7-D641-BEF8-21FDC6AABBA3}" presName="composite" presStyleCnt="0"/>
      <dgm:spPr/>
    </dgm:pt>
    <dgm:pt modelId="{817CF44C-A5E9-C347-8E01-227B8A7976DB}" type="pres">
      <dgm:prSet presAssocID="{431BAD10-97A7-D641-BEF8-21FDC6AABBA3}" presName="parTx" presStyleLbl="alignNode1" presStyleIdx="0" presStyleCnt="3">
        <dgm:presLayoutVars>
          <dgm:chMax val="0"/>
          <dgm:chPref val="0"/>
          <dgm:bulletEnabled val="1"/>
        </dgm:presLayoutVars>
      </dgm:prSet>
      <dgm:spPr/>
    </dgm:pt>
    <dgm:pt modelId="{7E16D8AB-52F6-9141-8D5F-AEEFBD374CB3}" type="pres">
      <dgm:prSet presAssocID="{431BAD10-97A7-D641-BEF8-21FDC6AABBA3}" presName="desTx" presStyleLbl="alignAccFollowNode1" presStyleIdx="0" presStyleCnt="3">
        <dgm:presLayoutVars>
          <dgm:bulletEnabled val="1"/>
        </dgm:presLayoutVars>
      </dgm:prSet>
      <dgm:spPr/>
    </dgm:pt>
    <dgm:pt modelId="{61CBFBC6-5565-7A4E-A953-13EC53026759}" type="pres">
      <dgm:prSet presAssocID="{A16044DB-FFE8-B54A-9D38-F2D24BF5709D}" presName="space" presStyleCnt="0"/>
      <dgm:spPr/>
    </dgm:pt>
    <dgm:pt modelId="{F4DF60A8-650B-D240-92EA-6BC5428004DA}" type="pres">
      <dgm:prSet presAssocID="{2C643D6F-1A40-284B-BCAE-6AD3F5828620}" presName="composite" presStyleCnt="0"/>
      <dgm:spPr/>
    </dgm:pt>
    <dgm:pt modelId="{641D792F-E8AC-6C49-8675-264353E40571}" type="pres">
      <dgm:prSet presAssocID="{2C643D6F-1A40-284B-BCAE-6AD3F5828620}" presName="parTx" presStyleLbl="alignNode1" presStyleIdx="1" presStyleCnt="3">
        <dgm:presLayoutVars>
          <dgm:chMax val="0"/>
          <dgm:chPref val="0"/>
          <dgm:bulletEnabled val="1"/>
        </dgm:presLayoutVars>
      </dgm:prSet>
      <dgm:spPr/>
    </dgm:pt>
    <dgm:pt modelId="{17FB1271-1F08-C841-8FD0-7DC7FD447FD2}" type="pres">
      <dgm:prSet presAssocID="{2C643D6F-1A40-284B-BCAE-6AD3F5828620}" presName="desTx" presStyleLbl="alignAccFollowNode1" presStyleIdx="1" presStyleCnt="3">
        <dgm:presLayoutVars>
          <dgm:bulletEnabled val="1"/>
        </dgm:presLayoutVars>
      </dgm:prSet>
      <dgm:spPr/>
    </dgm:pt>
    <dgm:pt modelId="{F87E71D8-F808-5F47-8BC8-C7F391454C40}" type="pres">
      <dgm:prSet presAssocID="{2A003953-0224-4443-868D-F86362D20DAB}" presName="space" presStyleCnt="0"/>
      <dgm:spPr/>
    </dgm:pt>
    <dgm:pt modelId="{60813AA4-211F-BB43-8B2F-CBFE7727D616}" type="pres">
      <dgm:prSet presAssocID="{34B795B5-CCC5-CD4C-AC07-BDCE91D13FEC}" presName="composite" presStyleCnt="0"/>
      <dgm:spPr/>
    </dgm:pt>
    <dgm:pt modelId="{8DE217AE-824A-884C-A867-663EC568ACB7}" type="pres">
      <dgm:prSet presAssocID="{34B795B5-CCC5-CD4C-AC07-BDCE91D13FEC}" presName="parTx" presStyleLbl="alignNode1" presStyleIdx="2" presStyleCnt="3">
        <dgm:presLayoutVars>
          <dgm:chMax val="0"/>
          <dgm:chPref val="0"/>
          <dgm:bulletEnabled val="1"/>
        </dgm:presLayoutVars>
      </dgm:prSet>
      <dgm:spPr/>
    </dgm:pt>
    <dgm:pt modelId="{2D485788-EDA8-894D-9351-2D0E76A23E85}" type="pres">
      <dgm:prSet presAssocID="{34B795B5-CCC5-CD4C-AC07-BDCE91D13FEC}" presName="desTx" presStyleLbl="alignAccFollowNode1" presStyleIdx="2" presStyleCnt="3">
        <dgm:presLayoutVars>
          <dgm:bulletEnabled val="1"/>
        </dgm:presLayoutVars>
      </dgm:prSet>
      <dgm:spPr/>
    </dgm:pt>
  </dgm:ptLst>
  <dgm:cxnLst>
    <dgm:cxn modelId="{3C786C22-CAD9-5342-A48B-C6FC4847DC3B}" type="presOf" srcId="{2C643D6F-1A40-284B-BCAE-6AD3F5828620}" destId="{641D792F-E8AC-6C49-8675-264353E40571}" srcOrd="0" destOrd="0" presId="urn:microsoft.com/office/officeart/2005/8/layout/hList1"/>
    <dgm:cxn modelId="{47AF3234-B54C-6542-8EE4-11A79A848BC8}" srcId="{431BAD10-97A7-D641-BEF8-21FDC6AABBA3}" destId="{E9B01616-F881-0543-B80E-1DD7C0692474}" srcOrd="0" destOrd="0" parTransId="{20466E17-5D3C-5046-9FA6-0E7113532B6C}" sibTransId="{4BCF88BF-BD43-9543-A9E3-5461CAEEACF5}"/>
    <dgm:cxn modelId="{77AEC636-09DB-6942-BC51-79D95F9CD59B}" type="presOf" srcId="{E9B01616-F881-0543-B80E-1DD7C0692474}" destId="{7E16D8AB-52F6-9141-8D5F-AEEFBD374CB3}" srcOrd="0" destOrd="0" presId="urn:microsoft.com/office/officeart/2005/8/layout/hList1"/>
    <dgm:cxn modelId="{AD0F7745-B045-A644-B9F7-7D5A2E74780A}" type="presOf" srcId="{431BAD10-97A7-D641-BEF8-21FDC6AABBA3}" destId="{817CF44C-A5E9-C347-8E01-227B8A7976DB}" srcOrd="0" destOrd="0" presId="urn:microsoft.com/office/officeart/2005/8/layout/hList1"/>
    <dgm:cxn modelId="{E6600E55-3F16-AB42-84AE-5B281B59EECC}" type="presOf" srcId="{5408105B-F846-8A40-A4FD-C4C228D2C6C6}" destId="{272A8CD3-043A-9144-AD6D-C60CCCF77445}" srcOrd="0" destOrd="0" presId="urn:microsoft.com/office/officeart/2005/8/layout/hList1"/>
    <dgm:cxn modelId="{1178565C-C847-7E4F-A021-DA188B9D90F5}" srcId="{34B795B5-CCC5-CD4C-AC07-BDCE91D13FEC}" destId="{8DCAC0C3-A3DF-E94B-A3DA-FE3320FC02D9}" srcOrd="0" destOrd="0" parTransId="{0348E1C9-51E0-4645-AF91-3B36D2ACCE25}" sibTransId="{30AD515E-DF96-3C49-BB45-3FBC92951F1F}"/>
    <dgm:cxn modelId="{9A98A18F-F191-D24B-B97F-4093B96B7B0E}" type="presOf" srcId="{3C8A4E88-487D-6B45-973D-34ADD382A25C}" destId="{17FB1271-1F08-C841-8FD0-7DC7FD447FD2}" srcOrd="0" destOrd="0" presId="urn:microsoft.com/office/officeart/2005/8/layout/hList1"/>
    <dgm:cxn modelId="{E86C22A8-6028-1345-837E-E488C48528CC}" srcId="{2C643D6F-1A40-284B-BCAE-6AD3F5828620}" destId="{3C8A4E88-487D-6B45-973D-34ADD382A25C}" srcOrd="0" destOrd="0" parTransId="{D3A197B7-41F6-3C4E-88DD-3447028DC6FC}" sibTransId="{4D125A23-9893-8448-AA36-CEFF5E0EBB8D}"/>
    <dgm:cxn modelId="{39A355B3-E0A3-2241-9567-05284336733F}" type="presOf" srcId="{8DCAC0C3-A3DF-E94B-A3DA-FE3320FC02D9}" destId="{2D485788-EDA8-894D-9351-2D0E76A23E85}" srcOrd="0" destOrd="0" presId="urn:microsoft.com/office/officeart/2005/8/layout/hList1"/>
    <dgm:cxn modelId="{C809B1B9-8E0B-3944-8099-61672E83CA02}" srcId="{5408105B-F846-8A40-A4FD-C4C228D2C6C6}" destId="{431BAD10-97A7-D641-BEF8-21FDC6AABBA3}" srcOrd="0" destOrd="0" parTransId="{BAE2A965-691D-584A-9633-F0F80995035A}" sibTransId="{A16044DB-FFE8-B54A-9D38-F2D24BF5709D}"/>
    <dgm:cxn modelId="{10E344DC-9594-D144-AB7F-E04ED0223208}" type="presOf" srcId="{34B795B5-CCC5-CD4C-AC07-BDCE91D13FEC}" destId="{8DE217AE-824A-884C-A867-663EC568ACB7}" srcOrd="0" destOrd="0" presId="urn:microsoft.com/office/officeart/2005/8/layout/hList1"/>
    <dgm:cxn modelId="{A33301E9-406A-AD4C-92AD-39892ACD407C}" srcId="{5408105B-F846-8A40-A4FD-C4C228D2C6C6}" destId="{2C643D6F-1A40-284B-BCAE-6AD3F5828620}" srcOrd="1" destOrd="0" parTransId="{20D0499D-53B4-9F41-9D2B-7B53213068AD}" sibTransId="{2A003953-0224-4443-868D-F86362D20DAB}"/>
    <dgm:cxn modelId="{FABB63FE-7808-0849-96FE-EE483CBCFAC5}" srcId="{5408105B-F846-8A40-A4FD-C4C228D2C6C6}" destId="{34B795B5-CCC5-CD4C-AC07-BDCE91D13FEC}" srcOrd="2" destOrd="0" parTransId="{AF24B59C-DD76-4241-8D15-2BE56BAA6579}" sibTransId="{876316DB-E9A2-4C45-9540-06F627EDC7CC}"/>
    <dgm:cxn modelId="{D3DDEDEC-8967-8645-A5B0-0A3036519A68}" type="presParOf" srcId="{272A8CD3-043A-9144-AD6D-C60CCCF77445}" destId="{CB2D070B-F36E-7E41-A609-0B4F2F7B1DCD}" srcOrd="0" destOrd="0" presId="urn:microsoft.com/office/officeart/2005/8/layout/hList1"/>
    <dgm:cxn modelId="{E652482E-59AB-6A4A-A1AC-6A00D9443659}" type="presParOf" srcId="{CB2D070B-F36E-7E41-A609-0B4F2F7B1DCD}" destId="{817CF44C-A5E9-C347-8E01-227B8A7976DB}" srcOrd="0" destOrd="0" presId="urn:microsoft.com/office/officeart/2005/8/layout/hList1"/>
    <dgm:cxn modelId="{AFBC4737-0B48-D14A-8AF6-312AE4008C87}" type="presParOf" srcId="{CB2D070B-F36E-7E41-A609-0B4F2F7B1DCD}" destId="{7E16D8AB-52F6-9141-8D5F-AEEFBD374CB3}" srcOrd="1" destOrd="0" presId="urn:microsoft.com/office/officeart/2005/8/layout/hList1"/>
    <dgm:cxn modelId="{CBED1760-13ED-1D4C-905C-0E088A14B3F7}" type="presParOf" srcId="{272A8CD3-043A-9144-AD6D-C60CCCF77445}" destId="{61CBFBC6-5565-7A4E-A953-13EC53026759}" srcOrd="1" destOrd="0" presId="urn:microsoft.com/office/officeart/2005/8/layout/hList1"/>
    <dgm:cxn modelId="{C9414611-2C74-E64A-B2B5-227047C294D7}" type="presParOf" srcId="{272A8CD3-043A-9144-AD6D-C60CCCF77445}" destId="{F4DF60A8-650B-D240-92EA-6BC5428004DA}" srcOrd="2" destOrd="0" presId="urn:microsoft.com/office/officeart/2005/8/layout/hList1"/>
    <dgm:cxn modelId="{01701DDB-94F5-AC4C-AE80-9D81765462FE}" type="presParOf" srcId="{F4DF60A8-650B-D240-92EA-6BC5428004DA}" destId="{641D792F-E8AC-6C49-8675-264353E40571}" srcOrd="0" destOrd="0" presId="urn:microsoft.com/office/officeart/2005/8/layout/hList1"/>
    <dgm:cxn modelId="{19466FB0-97FB-0742-9DF9-EB0E5E3AB993}" type="presParOf" srcId="{F4DF60A8-650B-D240-92EA-6BC5428004DA}" destId="{17FB1271-1F08-C841-8FD0-7DC7FD447FD2}" srcOrd="1" destOrd="0" presId="urn:microsoft.com/office/officeart/2005/8/layout/hList1"/>
    <dgm:cxn modelId="{21F9D453-3CFE-DE45-B31F-9042799AAFA5}" type="presParOf" srcId="{272A8CD3-043A-9144-AD6D-C60CCCF77445}" destId="{F87E71D8-F808-5F47-8BC8-C7F391454C40}" srcOrd="3" destOrd="0" presId="urn:microsoft.com/office/officeart/2005/8/layout/hList1"/>
    <dgm:cxn modelId="{19DCDB95-A70E-C94F-A5C3-3B56D86164EA}" type="presParOf" srcId="{272A8CD3-043A-9144-AD6D-C60CCCF77445}" destId="{60813AA4-211F-BB43-8B2F-CBFE7727D616}" srcOrd="4" destOrd="0" presId="urn:microsoft.com/office/officeart/2005/8/layout/hList1"/>
    <dgm:cxn modelId="{F3C7C8A8-1D49-5542-BB18-2A0BFB0A43D6}" type="presParOf" srcId="{60813AA4-211F-BB43-8B2F-CBFE7727D616}" destId="{8DE217AE-824A-884C-A867-663EC568ACB7}" srcOrd="0" destOrd="0" presId="urn:microsoft.com/office/officeart/2005/8/layout/hList1"/>
    <dgm:cxn modelId="{D1AF1072-650D-854E-B389-B6A58ED76722}" type="presParOf" srcId="{60813AA4-211F-BB43-8B2F-CBFE7727D616}" destId="{2D485788-EDA8-894D-9351-2D0E76A23E8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5F09BA-CD43-469F-84E1-8A2A4A0488F6}"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5CEA871B-AE73-4A74-AF7A-40C03A25B206}">
      <dgm:prSet/>
      <dgm:spPr>
        <a:solidFill>
          <a:schemeClr val="accent1">
            <a:lumMod val="40000"/>
            <a:lumOff val="60000"/>
          </a:schemeClr>
        </a:solidFill>
      </dgm:spPr>
      <dgm:t>
        <a:bodyPr/>
        <a:lstStyle/>
        <a:p>
          <a:r>
            <a:rPr lang="en-US" dirty="0">
              <a:solidFill>
                <a:schemeClr val="tx1"/>
              </a:solidFill>
            </a:rPr>
            <a:t>Black population R</a:t>
          </a:r>
          <a:r>
            <a:rPr lang="en-US" baseline="30000" dirty="0">
              <a:solidFill>
                <a:schemeClr val="tx1"/>
              </a:solidFill>
            </a:rPr>
            <a:t>2</a:t>
          </a:r>
          <a:r>
            <a:rPr lang="en-US" dirty="0">
              <a:solidFill>
                <a:schemeClr val="tx1"/>
              </a:solidFill>
            </a:rPr>
            <a:t> = 0.6225 </a:t>
          </a:r>
        </a:p>
      </dgm:t>
    </dgm:pt>
    <dgm:pt modelId="{CEC95F5B-2756-4EC8-813C-D884046B8333}" type="parTrans" cxnId="{94F4501F-C98A-47F4-A8A8-A09FFBAA3EE4}">
      <dgm:prSet/>
      <dgm:spPr/>
      <dgm:t>
        <a:bodyPr/>
        <a:lstStyle/>
        <a:p>
          <a:endParaRPr lang="en-US"/>
        </a:p>
      </dgm:t>
    </dgm:pt>
    <dgm:pt modelId="{7828F620-0BBD-45A6-8354-577584DF0C29}" type="sibTrans" cxnId="{94F4501F-C98A-47F4-A8A8-A09FFBAA3EE4}">
      <dgm:prSet/>
      <dgm:spPr/>
      <dgm:t>
        <a:bodyPr/>
        <a:lstStyle/>
        <a:p>
          <a:endParaRPr lang="en-US"/>
        </a:p>
      </dgm:t>
    </dgm:pt>
    <dgm:pt modelId="{3C66F9E8-95C6-42E0-A255-048B0C864EE2}">
      <dgm:prSet/>
      <dgm:spPr>
        <a:solidFill>
          <a:schemeClr val="accent1">
            <a:lumMod val="40000"/>
            <a:lumOff val="60000"/>
          </a:schemeClr>
        </a:solidFill>
      </dgm:spPr>
      <dgm:t>
        <a:bodyPr/>
        <a:lstStyle/>
        <a:p>
          <a:r>
            <a:rPr lang="en-US" dirty="0">
              <a:solidFill>
                <a:schemeClr val="tx1"/>
              </a:solidFill>
            </a:rPr>
            <a:t>Latin population R</a:t>
          </a:r>
          <a:r>
            <a:rPr lang="en-US" baseline="30000" dirty="0">
              <a:solidFill>
                <a:schemeClr val="tx1"/>
              </a:solidFill>
            </a:rPr>
            <a:t>2</a:t>
          </a:r>
          <a:r>
            <a:rPr lang="en-US" dirty="0">
              <a:solidFill>
                <a:schemeClr val="tx1"/>
              </a:solidFill>
            </a:rPr>
            <a:t> = 0.418 </a:t>
          </a:r>
        </a:p>
      </dgm:t>
    </dgm:pt>
    <dgm:pt modelId="{EA265930-F39D-4EF6-A805-CAA48545E898}" type="parTrans" cxnId="{E9BC62B2-8516-4720-BA42-450C968A6FA2}">
      <dgm:prSet/>
      <dgm:spPr/>
      <dgm:t>
        <a:bodyPr/>
        <a:lstStyle/>
        <a:p>
          <a:endParaRPr lang="en-US"/>
        </a:p>
      </dgm:t>
    </dgm:pt>
    <dgm:pt modelId="{C1CAA05F-2E98-4F60-8BAA-8BCD1FF9127A}" type="sibTrans" cxnId="{E9BC62B2-8516-4720-BA42-450C968A6FA2}">
      <dgm:prSet/>
      <dgm:spPr/>
      <dgm:t>
        <a:bodyPr/>
        <a:lstStyle/>
        <a:p>
          <a:endParaRPr lang="en-US"/>
        </a:p>
      </dgm:t>
    </dgm:pt>
    <dgm:pt modelId="{9E8393B4-A4B4-4F4B-A8EF-D1448A421E25}" type="pres">
      <dgm:prSet presAssocID="{605F09BA-CD43-469F-84E1-8A2A4A0488F6}" presName="diagram" presStyleCnt="0">
        <dgm:presLayoutVars>
          <dgm:chPref val="1"/>
          <dgm:dir/>
          <dgm:animOne val="branch"/>
          <dgm:animLvl val="lvl"/>
          <dgm:resizeHandles/>
        </dgm:presLayoutVars>
      </dgm:prSet>
      <dgm:spPr/>
    </dgm:pt>
    <dgm:pt modelId="{832C180B-4E9C-324E-B2F3-4BDC15485740}" type="pres">
      <dgm:prSet presAssocID="{5CEA871B-AE73-4A74-AF7A-40C03A25B206}" presName="root" presStyleCnt="0"/>
      <dgm:spPr/>
    </dgm:pt>
    <dgm:pt modelId="{CD62522B-7E04-9340-9721-A3A597D606A3}" type="pres">
      <dgm:prSet presAssocID="{5CEA871B-AE73-4A74-AF7A-40C03A25B206}" presName="rootComposite" presStyleCnt="0"/>
      <dgm:spPr/>
    </dgm:pt>
    <dgm:pt modelId="{3E4A1561-A66B-F049-9BED-EBD674ABB843}" type="pres">
      <dgm:prSet presAssocID="{5CEA871B-AE73-4A74-AF7A-40C03A25B206}" presName="rootText" presStyleLbl="node1" presStyleIdx="0" presStyleCnt="2"/>
      <dgm:spPr/>
    </dgm:pt>
    <dgm:pt modelId="{1FE22E1F-0D5E-BA43-89C5-D5D2302D3E9F}" type="pres">
      <dgm:prSet presAssocID="{5CEA871B-AE73-4A74-AF7A-40C03A25B206}" presName="rootConnector" presStyleLbl="node1" presStyleIdx="0" presStyleCnt="2"/>
      <dgm:spPr/>
    </dgm:pt>
    <dgm:pt modelId="{D3115456-76D1-8E4B-8F33-F10DEBDF00CE}" type="pres">
      <dgm:prSet presAssocID="{5CEA871B-AE73-4A74-AF7A-40C03A25B206}" presName="childShape" presStyleCnt="0"/>
      <dgm:spPr/>
    </dgm:pt>
    <dgm:pt modelId="{E0536648-AE43-4E4B-B7A0-DE4FED41AC43}" type="pres">
      <dgm:prSet presAssocID="{3C66F9E8-95C6-42E0-A255-048B0C864EE2}" presName="root" presStyleCnt="0"/>
      <dgm:spPr/>
    </dgm:pt>
    <dgm:pt modelId="{81063860-EDAE-7E47-BF88-DC3F80B854E7}" type="pres">
      <dgm:prSet presAssocID="{3C66F9E8-95C6-42E0-A255-048B0C864EE2}" presName="rootComposite" presStyleCnt="0"/>
      <dgm:spPr/>
    </dgm:pt>
    <dgm:pt modelId="{6454D4F9-6B00-5047-99D8-1A1446E2A86F}" type="pres">
      <dgm:prSet presAssocID="{3C66F9E8-95C6-42E0-A255-048B0C864EE2}" presName="rootText" presStyleLbl="node1" presStyleIdx="1" presStyleCnt="2"/>
      <dgm:spPr/>
    </dgm:pt>
    <dgm:pt modelId="{7CCBCF51-B285-604C-AF24-573E5DC532D5}" type="pres">
      <dgm:prSet presAssocID="{3C66F9E8-95C6-42E0-A255-048B0C864EE2}" presName="rootConnector" presStyleLbl="node1" presStyleIdx="1" presStyleCnt="2"/>
      <dgm:spPr/>
    </dgm:pt>
    <dgm:pt modelId="{37BAC3A7-C491-4F46-A0C0-57014EF6A1F9}" type="pres">
      <dgm:prSet presAssocID="{3C66F9E8-95C6-42E0-A255-048B0C864EE2}" presName="childShape" presStyleCnt="0"/>
      <dgm:spPr/>
    </dgm:pt>
  </dgm:ptLst>
  <dgm:cxnLst>
    <dgm:cxn modelId="{CE2BCF16-684C-874A-8059-FECE585DE748}" type="presOf" srcId="{605F09BA-CD43-469F-84E1-8A2A4A0488F6}" destId="{9E8393B4-A4B4-4F4B-A8EF-D1448A421E25}" srcOrd="0" destOrd="0" presId="urn:microsoft.com/office/officeart/2005/8/layout/hierarchy3"/>
    <dgm:cxn modelId="{94F4501F-C98A-47F4-A8A8-A09FFBAA3EE4}" srcId="{605F09BA-CD43-469F-84E1-8A2A4A0488F6}" destId="{5CEA871B-AE73-4A74-AF7A-40C03A25B206}" srcOrd="0" destOrd="0" parTransId="{CEC95F5B-2756-4EC8-813C-D884046B8333}" sibTransId="{7828F620-0BBD-45A6-8354-577584DF0C29}"/>
    <dgm:cxn modelId="{EA501595-35D3-A149-8D6B-59A54A2CEBDE}" type="presOf" srcId="{5CEA871B-AE73-4A74-AF7A-40C03A25B206}" destId="{1FE22E1F-0D5E-BA43-89C5-D5D2302D3E9F}" srcOrd="1" destOrd="0" presId="urn:microsoft.com/office/officeart/2005/8/layout/hierarchy3"/>
    <dgm:cxn modelId="{4DE42AA3-DE87-974E-ACDD-229661238918}" type="presOf" srcId="{3C66F9E8-95C6-42E0-A255-048B0C864EE2}" destId="{7CCBCF51-B285-604C-AF24-573E5DC532D5}" srcOrd="1" destOrd="0" presId="urn:microsoft.com/office/officeart/2005/8/layout/hierarchy3"/>
    <dgm:cxn modelId="{E9BC62B2-8516-4720-BA42-450C968A6FA2}" srcId="{605F09BA-CD43-469F-84E1-8A2A4A0488F6}" destId="{3C66F9E8-95C6-42E0-A255-048B0C864EE2}" srcOrd="1" destOrd="0" parTransId="{EA265930-F39D-4EF6-A805-CAA48545E898}" sibTransId="{C1CAA05F-2E98-4F60-8BAA-8BCD1FF9127A}"/>
    <dgm:cxn modelId="{63105AC6-D86C-DD4B-9E44-B79235DBCDA9}" type="presOf" srcId="{5CEA871B-AE73-4A74-AF7A-40C03A25B206}" destId="{3E4A1561-A66B-F049-9BED-EBD674ABB843}" srcOrd="0" destOrd="0" presId="urn:microsoft.com/office/officeart/2005/8/layout/hierarchy3"/>
    <dgm:cxn modelId="{52E386DA-B63B-0D4A-AC7E-B10F8AAB03A4}" type="presOf" srcId="{3C66F9E8-95C6-42E0-A255-048B0C864EE2}" destId="{6454D4F9-6B00-5047-99D8-1A1446E2A86F}" srcOrd="0" destOrd="0" presId="urn:microsoft.com/office/officeart/2005/8/layout/hierarchy3"/>
    <dgm:cxn modelId="{4B406EA6-B36F-D441-AA9B-0E84D36E8F66}" type="presParOf" srcId="{9E8393B4-A4B4-4F4B-A8EF-D1448A421E25}" destId="{832C180B-4E9C-324E-B2F3-4BDC15485740}" srcOrd="0" destOrd="0" presId="urn:microsoft.com/office/officeart/2005/8/layout/hierarchy3"/>
    <dgm:cxn modelId="{C837916A-BF0A-5248-929F-F1FDEDD3CB46}" type="presParOf" srcId="{832C180B-4E9C-324E-B2F3-4BDC15485740}" destId="{CD62522B-7E04-9340-9721-A3A597D606A3}" srcOrd="0" destOrd="0" presId="urn:microsoft.com/office/officeart/2005/8/layout/hierarchy3"/>
    <dgm:cxn modelId="{56D4510A-36D8-D041-8759-454F3342AED0}" type="presParOf" srcId="{CD62522B-7E04-9340-9721-A3A597D606A3}" destId="{3E4A1561-A66B-F049-9BED-EBD674ABB843}" srcOrd="0" destOrd="0" presId="urn:microsoft.com/office/officeart/2005/8/layout/hierarchy3"/>
    <dgm:cxn modelId="{497B7296-1E68-DE41-8054-91DCE7BFB5DB}" type="presParOf" srcId="{CD62522B-7E04-9340-9721-A3A597D606A3}" destId="{1FE22E1F-0D5E-BA43-89C5-D5D2302D3E9F}" srcOrd="1" destOrd="0" presId="urn:microsoft.com/office/officeart/2005/8/layout/hierarchy3"/>
    <dgm:cxn modelId="{4694980F-42F5-E946-8C83-E0981B1EDB22}" type="presParOf" srcId="{832C180B-4E9C-324E-B2F3-4BDC15485740}" destId="{D3115456-76D1-8E4B-8F33-F10DEBDF00CE}" srcOrd="1" destOrd="0" presId="urn:microsoft.com/office/officeart/2005/8/layout/hierarchy3"/>
    <dgm:cxn modelId="{473E168C-C2DF-544D-B8D4-E952CB4DD1B0}" type="presParOf" srcId="{9E8393B4-A4B4-4F4B-A8EF-D1448A421E25}" destId="{E0536648-AE43-4E4B-B7A0-DE4FED41AC43}" srcOrd="1" destOrd="0" presId="urn:microsoft.com/office/officeart/2005/8/layout/hierarchy3"/>
    <dgm:cxn modelId="{88B648F6-863D-F144-82BF-3502A9BFC746}" type="presParOf" srcId="{E0536648-AE43-4E4B-B7A0-DE4FED41AC43}" destId="{81063860-EDAE-7E47-BF88-DC3F80B854E7}" srcOrd="0" destOrd="0" presId="urn:microsoft.com/office/officeart/2005/8/layout/hierarchy3"/>
    <dgm:cxn modelId="{2183911B-D6E2-E441-87AA-71C462120EB2}" type="presParOf" srcId="{81063860-EDAE-7E47-BF88-DC3F80B854E7}" destId="{6454D4F9-6B00-5047-99D8-1A1446E2A86F}" srcOrd="0" destOrd="0" presId="urn:microsoft.com/office/officeart/2005/8/layout/hierarchy3"/>
    <dgm:cxn modelId="{8E7D892D-023D-FF4C-8B22-4B39DADEBDB9}" type="presParOf" srcId="{81063860-EDAE-7E47-BF88-DC3F80B854E7}" destId="{7CCBCF51-B285-604C-AF24-573E5DC532D5}" srcOrd="1" destOrd="0" presId="urn:microsoft.com/office/officeart/2005/8/layout/hierarchy3"/>
    <dgm:cxn modelId="{3A94AEC5-84E6-BD4E-BE83-8CFEC20CA941}" type="presParOf" srcId="{E0536648-AE43-4E4B-B7A0-DE4FED41AC43}" destId="{37BAC3A7-C491-4F46-A0C0-57014EF6A1F9}"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7CF44C-A5E9-C347-8E01-227B8A7976DB}">
      <dsp:nvSpPr>
        <dsp:cNvPr id="0" name=""/>
        <dsp:cNvSpPr/>
      </dsp:nvSpPr>
      <dsp:spPr>
        <a:xfrm>
          <a:off x="3143" y="113323"/>
          <a:ext cx="3064668" cy="460800"/>
        </a:xfrm>
        <a:prstGeom prst="rect">
          <a:avLst/>
        </a:prstGeom>
        <a:gradFill rotWithShape="0">
          <a:gsLst>
            <a:gs pos="0">
              <a:schemeClr val="accent1">
                <a:hueOff val="0"/>
                <a:satOff val="0"/>
                <a:lumOff val="0"/>
                <a:alphaOff val="0"/>
                <a:tint val="60000"/>
                <a:satMod val="105000"/>
                <a:lumMod val="105000"/>
              </a:schemeClr>
            </a:gs>
            <a:gs pos="100000">
              <a:schemeClr val="accent1">
                <a:hueOff val="0"/>
                <a:satOff val="0"/>
                <a:lumOff val="0"/>
                <a:alphaOff val="0"/>
                <a:tint val="65000"/>
                <a:satMod val="100000"/>
                <a:lumMod val="100000"/>
              </a:schemeClr>
            </a:gs>
            <a:gs pos="100000">
              <a:schemeClr val="accent1">
                <a:hueOff val="0"/>
                <a:satOff val="0"/>
                <a:lumOff val="0"/>
                <a:alphaOff val="0"/>
                <a:tint val="70000"/>
                <a:satMod val="100000"/>
                <a:lumMod val="100000"/>
              </a:schemeClr>
            </a:gs>
          </a:gsLst>
          <a:lin ang="5400000" scaled="0"/>
        </a:gradFill>
        <a:ln w="6350" cap="flat" cmpd="sng" algn="ctr">
          <a:solidFill>
            <a:schemeClr val="accent1">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Problem statement</a:t>
          </a:r>
        </a:p>
      </dsp:txBody>
      <dsp:txXfrm>
        <a:off x="3143" y="113323"/>
        <a:ext cx="3064668" cy="460800"/>
      </dsp:txXfrm>
    </dsp:sp>
    <dsp:sp modelId="{7E16D8AB-52F6-9141-8D5F-AEEFBD374CB3}">
      <dsp:nvSpPr>
        <dsp:cNvPr id="0" name=""/>
        <dsp:cNvSpPr/>
      </dsp:nvSpPr>
      <dsp:spPr>
        <a:xfrm>
          <a:off x="3143" y="574123"/>
          <a:ext cx="3064668" cy="3162240"/>
        </a:xfrm>
        <a:prstGeom prst="rect">
          <a:avLst/>
        </a:prstGeom>
        <a:solidFill>
          <a:schemeClr val="bg1">
            <a:alpha val="90000"/>
          </a:schemeClr>
        </a:solidFill>
        <a:ln w="635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b="0" kern="1200" dirty="0"/>
            <a:t>Obesity tends to have an association with developing diabetes. I will investigate the relation and whether there exists a disparity in this risk factor between the black and Latin communities. I hope to find out if there are statistically significant differences in the prevalence of diabetes and obesity among these racial groups by analyzing relevant data.</a:t>
          </a:r>
        </a:p>
      </dsp:txBody>
      <dsp:txXfrm>
        <a:off x="3143" y="574123"/>
        <a:ext cx="3064668" cy="3162240"/>
      </dsp:txXfrm>
    </dsp:sp>
    <dsp:sp modelId="{641D792F-E8AC-6C49-8675-264353E40571}">
      <dsp:nvSpPr>
        <dsp:cNvPr id="0" name=""/>
        <dsp:cNvSpPr/>
      </dsp:nvSpPr>
      <dsp:spPr>
        <a:xfrm>
          <a:off x="3496865" y="113323"/>
          <a:ext cx="3064668" cy="460800"/>
        </a:xfrm>
        <a:prstGeom prst="rect">
          <a:avLst/>
        </a:prstGeom>
        <a:gradFill rotWithShape="0">
          <a:gsLst>
            <a:gs pos="0">
              <a:schemeClr val="accent1">
                <a:hueOff val="0"/>
                <a:satOff val="0"/>
                <a:lumOff val="0"/>
                <a:alphaOff val="0"/>
                <a:tint val="60000"/>
                <a:satMod val="105000"/>
                <a:lumMod val="105000"/>
              </a:schemeClr>
            </a:gs>
            <a:gs pos="100000">
              <a:schemeClr val="accent1">
                <a:hueOff val="0"/>
                <a:satOff val="0"/>
                <a:lumOff val="0"/>
                <a:alphaOff val="0"/>
                <a:tint val="65000"/>
                <a:satMod val="100000"/>
                <a:lumMod val="100000"/>
              </a:schemeClr>
            </a:gs>
            <a:gs pos="100000">
              <a:schemeClr val="accent1">
                <a:hueOff val="0"/>
                <a:satOff val="0"/>
                <a:lumOff val="0"/>
                <a:alphaOff val="0"/>
                <a:tint val="70000"/>
                <a:satMod val="100000"/>
                <a:lumMod val="100000"/>
              </a:schemeClr>
            </a:gs>
          </a:gsLst>
          <a:lin ang="5400000" scaled="0"/>
        </a:gradFill>
        <a:ln w="6350" cap="flat" cmpd="sng" algn="ctr">
          <a:solidFill>
            <a:schemeClr val="accent1">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Question</a:t>
          </a:r>
        </a:p>
      </dsp:txBody>
      <dsp:txXfrm>
        <a:off x="3496865" y="113323"/>
        <a:ext cx="3064668" cy="460800"/>
      </dsp:txXfrm>
    </dsp:sp>
    <dsp:sp modelId="{17FB1271-1F08-C841-8FD0-7DC7FD447FD2}">
      <dsp:nvSpPr>
        <dsp:cNvPr id="0" name=""/>
        <dsp:cNvSpPr/>
      </dsp:nvSpPr>
      <dsp:spPr>
        <a:xfrm>
          <a:off x="3496865" y="574123"/>
          <a:ext cx="3064668" cy="3162240"/>
        </a:xfrm>
        <a:prstGeom prst="rect">
          <a:avLst/>
        </a:prstGeom>
        <a:solidFill>
          <a:schemeClr val="bg1">
            <a:alpha val="90000"/>
          </a:schemeClr>
        </a:solidFill>
        <a:ln w="6350" cap="flat" cmpd="sng" algn="ctr">
          <a:solidFill>
            <a:schemeClr val="bg1">
              <a:alpha val="9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What is the relationship between obesity and diabetes in the black community compared to the Latin community?</a:t>
          </a:r>
        </a:p>
      </dsp:txBody>
      <dsp:txXfrm>
        <a:off x="3496865" y="574123"/>
        <a:ext cx="3064668" cy="3162240"/>
      </dsp:txXfrm>
    </dsp:sp>
    <dsp:sp modelId="{8DE217AE-824A-884C-A867-663EC568ACB7}">
      <dsp:nvSpPr>
        <dsp:cNvPr id="0" name=""/>
        <dsp:cNvSpPr/>
      </dsp:nvSpPr>
      <dsp:spPr>
        <a:xfrm>
          <a:off x="6990588" y="113323"/>
          <a:ext cx="3064668" cy="460800"/>
        </a:xfrm>
        <a:prstGeom prst="rect">
          <a:avLst/>
        </a:prstGeom>
        <a:gradFill rotWithShape="0">
          <a:gsLst>
            <a:gs pos="0">
              <a:schemeClr val="accent1">
                <a:hueOff val="0"/>
                <a:satOff val="0"/>
                <a:lumOff val="0"/>
                <a:alphaOff val="0"/>
                <a:tint val="60000"/>
                <a:satMod val="105000"/>
                <a:lumMod val="105000"/>
              </a:schemeClr>
            </a:gs>
            <a:gs pos="100000">
              <a:schemeClr val="accent1">
                <a:hueOff val="0"/>
                <a:satOff val="0"/>
                <a:lumOff val="0"/>
                <a:alphaOff val="0"/>
                <a:tint val="65000"/>
                <a:satMod val="100000"/>
                <a:lumMod val="100000"/>
              </a:schemeClr>
            </a:gs>
            <a:gs pos="100000">
              <a:schemeClr val="accent1">
                <a:hueOff val="0"/>
                <a:satOff val="0"/>
                <a:lumOff val="0"/>
                <a:alphaOff val="0"/>
                <a:tint val="70000"/>
                <a:satMod val="100000"/>
                <a:lumMod val="100000"/>
              </a:schemeClr>
            </a:gs>
          </a:gsLst>
          <a:lin ang="5400000" scaled="0"/>
        </a:gradFill>
        <a:ln w="6350" cap="flat" cmpd="sng" algn="ctr">
          <a:solidFill>
            <a:schemeClr val="accent1">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Hypothesis</a:t>
          </a:r>
        </a:p>
      </dsp:txBody>
      <dsp:txXfrm>
        <a:off x="6990588" y="113323"/>
        <a:ext cx="3064668" cy="460800"/>
      </dsp:txXfrm>
    </dsp:sp>
    <dsp:sp modelId="{2D485788-EDA8-894D-9351-2D0E76A23E85}">
      <dsp:nvSpPr>
        <dsp:cNvPr id="0" name=""/>
        <dsp:cNvSpPr/>
      </dsp:nvSpPr>
      <dsp:spPr>
        <a:xfrm>
          <a:off x="6990588" y="574123"/>
          <a:ext cx="3064668" cy="3162240"/>
        </a:xfrm>
        <a:prstGeom prst="rect">
          <a:avLst/>
        </a:prstGeom>
        <a:solidFill>
          <a:schemeClr val="bg1">
            <a:alpha val="90000"/>
          </a:schemeClr>
        </a:solidFill>
        <a:ln w="635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My hypothesis for this research is that obesity is positively associated with the development of diabetes. Furthermore, I anticipate that there will be a slight difference in this risk factor between the black community and the Latin community.</a:t>
          </a:r>
        </a:p>
      </dsp:txBody>
      <dsp:txXfrm>
        <a:off x="6990588" y="574123"/>
        <a:ext cx="3064668" cy="31622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4A1561-A66B-F049-9BED-EBD674ABB843}">
      <dsp:nvSpPr>
        <dsp:cNvPr id="0" name=""/>
        <dsp:cNvSpPr/>
      </dsp:nvSpPr>
      <dsp:spPr>
        <a:xfrm>
          <a:off x="1227" y="807484"/>
          <a:ext cx="4469308" cy="2234654"/>
        </a:xfrm>
        <a:prstGeom prst="roundRect">
          <a:avLst>
            <a:gd name="adj" fmla="val 10000"/>
          </a:avLst>
        </a:prstGeom>
        <a:solidFill>
          <a:schemeClr val="accent1">
            <a:lumMod val="40000"/>
            <a:lumOff val="6000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9535" tIns="59690" rIns="89535" bIns="59690" numCol="1" spcCol="1270" anchor="ctr" anchorCtr="0">
          <a:noAutofit/>
        </a:bodyPr>
        <a:lstStyle/>
        <a:p>
          <a:pPr marL="0" lvl="0" indent="0" algn="ctr" defTabSz="2089150">
            <a:lnSpc>
              <a:spcPct val="90000"/>
            </a:lnSpc>
            <a:spcBef>
              <a:spcPct val="0"/>
            </a:spcBef>
            <a:spcAft>
              <a:spcPct val="35000"/>
            </a:spcAft>
            <a:buNone/>
          </a:pPr>
          <a:r>
            <a:rPr lang="en-US" sz="4700" kern="1200" dirty="0">
              <a:solidFill>
                <a:schemeClr val="tx1"/>
              </a:solidFill>
            </a:rPr>
            <a:t>Black population R</a:t>
          </a:r>
          <a:r>
            <a:rPr lang="en-US" sz="4700" kern="1200" baseline="30000" dirty="0">
              <a:solidFill>
                <a:schemeClr val="tx1"/>
              </a:solidFill>
            </a:rPr>
            <a:t>2</a:t>
          </a:r>
          <a:r>
            <a:rPr lang="en-US" sz="4700" kern="1200" dirty="0">
              <a:solidFill>
                <a:schemeClr val="tx1"/>
              </a:solidFill>
            </a:rPr>
            <a:t> = 0.6225 </a:t>
          </a:r>
        </a:p>
      </dsp:txBody>
      <dsp:txXfrm>
        <a:off x="66678" y="872935"/>
        <a:ext cx="4338406" cy="2103752"/>
      </dsp:txXfrm>
    </dsp:sp>
    <dsp:sp modelId="{6454D4F9-6B00-5047-99D8-1A1446E2A86F}">
      <dsp:nvSpPr>
        <dsp:cNvPr id="0" name=""/>
        <dsp:cNvSpPr/>
      </dsp:nvSpPr>
      <dsp:spPr>
        <a:xfrm>
          <a:off x="5587863" y="807484"/>
          <a:ext cx="4469308" cy="2234654"/>
        </a:xfrm>
        <a:prstGeom prst="roundRect">
          <a:avLst>
            <a:gd name="adj" fmla="val 10000"/>
          </a:avLst>
        </a:prstGeom>
        <a:solidFill>
          <a:schemeClr val="accent1">
            <a:lumMod val="40000"/>
            <a:lumOff val="6000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9535" tIns="59690" rIns="89535" bIns="59690" numCol="1" spcCol="1270" anchor="ctr" anchorCtr="0">
          <a:noAutofit/>
        </a:bodyPr>
        <a:lstStyle/>
        <a:p>
          <a:pPr marL="0" lvl="0" indent="0" algn="ctr" defTabSz="2089150">
            <a:lnSpc>
              <a:spcPct val="90000"/>
            </a:lnSpc>
            <a:spcBef>
              <a:spcPct val="0"/>
            </a:spcBef>
            <a:spcAft>
              <a:spcPct val="35000"/>
            </a:spcAft>
            <a:buNone/>
          </a:pPr>
          <a:r>
            <a:rPr lang="en-US" sz="4700" kern="1200" dirty="0">
              <a:solidFill>
                <a:schemeClr val="tx1"/>
              </a:solidFill>
            </a:rPr>
            <a:t>Latin population R</a:t>
          </a:r>
          <a:r>
            <a:rPr lang="en-US" sz="4700" kern="1200" baseline="30000" dirty="0">
              <a:solidFill>
                <a:schemeClr val="tx1"/>
              </a:solidFill>
            </a:rPr>
            <a:t>2</a:t>
          </a:r>
          <a:r>
            <a:rPr lang="en-US" sz="4700" kern="1200" dirty="0">
              <a:solidFill>
                <a:schemeClr val="tx1"/>
              </a:solidFill>
            </a:rPr>
            <a:t> = 0.418 </a:t>
          </a:r>
        </a:p>
      </dsp:txBody>
      <dsp:txXfrm>
        <a:off x="5653314" y="872935"/>
        <a:ext cx="4338406" cy="2103752"/>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AF6C0-7648-8A49-AFBF-23CBF277FC00}" type="datetimeFigureOut">
              <a:rPr lang="en-US" smtClean="0"/>
              <a:t>12/24/24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330FCF-96C6-2A46-A41F-406B175795EE}" type="slidenum">
              <a:rPr lang="en-US" smtClean="0"/>
              <a:t>‹#›</a:t>
            </a:fld>
            <a:endParaRPr lang="en-US"/>
          </a:p>
        </p:txBody>
      </p:sp>
    </p:spTree>
    <p:extLst>
      <p:ext uri="{BB962C8B-B14F-4D97-AF65-F5344CB8AC3E}">
        <p14:creationId xmlns:p14="http://schemas.microsoft.com/office/powerpoint/2010/main" val="854784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0D8489-3289-2047-B333-BBD8367B96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7595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0D8489-3289-2047-B333-BBD8367B96A8}" type="slidenum">
              <a:rPr lang="en-US" smtClean="0"/>
              <a:t>5</a:t>
            </a:fld>
            <a:endParaRPr lang="en-US"/>
          </a:p>
        </p:txBody>
      </p:sp>
    </p:spTree>
    <p:extLst>
      <p:ext uri="{BB962C8B-B14F-4D97-AF65-F5344CB8AC3E}">
        <p14:creationId xmlns:p14="http://schemas.microsoft.com/office/powerpoint/2010/main" val="246101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F80D8489-3289-2047-B333-BBD8367B96A8}" type="slidenum">
              <a:rPr lang="en-US" smtClean="0"/>
              <a:t>7</a:t>
            </a:fld>
            <a:endParaRPr lang="en-US"/>
          </a:p>
        </p:txBody>
      </p:sp>
    </p:spTree>
    <p:extLst>
      <p:ext uri="{BB962C8B-B14F-4D97-AF65-F5344CB8AC3E}">
        <p14:creationId xmlns:p14="http://schemas.microsoft.com/office/powerpoint/2010/main" val="12495930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0D8489-3289-2047-B333-BBD8367B96A8}" type="slidenum">
              <a:rPr lang="en-US" smtClean="0"/>
              <a:t>9</a:t>
            </a:fld>
            <a:endParaRPr lang="en-US"/>
          </a:p>
        </p:txBody>
      </p:sp>
    </p:spTree>
    <p:extLst>
      <p:ext uri="{BB962C8B-B14F-4D97-AF65-F5344CB8AC3E}">
        <p14:creationId xmlns:p14="http://schemas.microsoft.com/office/powerpoint/2010/main" val="1583532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0D8489-3289-2047-B333-BBD8367B96A8}" type="slidenum">
              <a:rPr lang="en-US" smtClean="0"/>
              <a:t>10</a:t>
            </a:fld>
            <a:endParaRPr lang="en-US"/>
          </a:p>
        </p:txBody>
      </p:sp>
    </p:spTree>
    <p:extLst>
      <p:ext uri="{BB962C8B-B14F-4D97-AF65-F5344CB8AC3E}">
        <p14:creationId xmlns:p14="http://schemas.microsoft.com/office/powerpoint/2010/main" val="463109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0D8489-3289-2047-B333-BBD8367B96A8}" type="slidenum">
              <a:rPr lang="en-US" smtClean="0"/>
              <a:t>15</a:t>
            </a:fld>
            <a:endParaRPr lang="en-US"/>
          </a:p>
        </p:txBody>
      </p:sp>
    </p:spTree>
    <p:extLst>
      <p:ext uri="{BB962C8B-B14F-4D97-AF65-F5344CB8AC3E}">
        <p14:creationId xmlns:p14="http://schemas.microsoft.com/office/powerpoint/2010/main" val="2872544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12/24/24</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574520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12/24/24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088152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12/24/24</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4131155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12/24/24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023579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12/24/24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574696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12/24/24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640887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12/24/24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079139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12/24/24</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4081945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12/24/24</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15001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12/24/24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119867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12/24/24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736818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12/24/24</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1605020197"/>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ncbi.nlm.nih.gov/pmc/articles/PMC7181870/" TargetMode="External"/><Relationship Id="rId2" Type="http://schemas.openxmlformats.org/officeDocument/2006/relationships/hyperlink" Target="http://www.ncbi.nlm.nih.gov/pmc/articles/PMC7448246/" TargetMode="External"/><Relationship Id="rId1" Type="http://schemas.openxmlformats.org/officeDocument/2006/relationships/slideLayout" Target="../slideLayouts/slideLayout2.xml"/><Relationship Id="rId4" Type="http://schemas.openxmlformats.org/officeDocument/2006/relationships/hyperlink" Target="http://www.ncbi.nlm.nih.gov/pmc/articles/PMC5079832/"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n abstract burst of blue and pink">
            <a:extLst>
              <a:ext uri="{FF2B5EF4-FFF2-40B4-BE49-F238E27FC236}">
                <a16:creationId xmlns:a16="http://schemas.microsoft.com/office/drawing/2014/main" id="{24A1DC28-21DD-F735-BAA5-6326ABDF60DC}"/>
              </a:ext>
            </a:extLst>
          </p:cNvPr>
          <p:cNvPicPr>
            <a:picLocks noChangeAspect="1"/>
          </p:cNvPicPr>
          <p:nvPr/>
        </p:nvPicPr>
        <p:blipFill rotWithShape="1">
          <a:blip r:embed="rId3"/>
          <a:srcRect/>
          <a:stretch/>
        </p:blipFill>
        <p:spPr>
          <a:xfrm>
            <a:off x="0" y="0"/>
            <a:ext cx="12191980" cy="6858000"/>
          </a:xfrm>
          <a:prstGeom prst="rect">
            <a:avLst/>
          </a:prstGeom>
        </p:spPr>
      </p:pic>
      <p:sp useBgFill="1">
        <p:nvSpPr>
          <p:cNvPr id="9" name="Rectangle 8">
            <a:extLst>
              <a:ext uri="{FF2B5EF4-FFF2-40B4-BE49-F238E27FC236}">
                <a16:creationId xmlns:a16="http://schemas.microsoft.com/office/drawing/2014/main" id="{BF9FFE17-DE95-4821-ACC1-B90C95449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Next LT Pro" panose="02020404030301010803"/>
              <a:ea typeface="+mn-ea"/>
              <a:cs typeface="+mn-cs"/>
            </a:endParaRPr>
          </a:p>
        </p:txBody>
      </p:sp>
      <p:sp>
        <p:nvSpPr>
          <p:cNvPr id="11" name="Rectangle 10">
            <a:extLst>
              <a:ext uri="{FF2B5EF4-FFF2-40B4-BE49-F238E27FC236}">
                <a16:creationId xmlns:a16="http://schemas.microsoft.com/office/drawing/2014/main" id="{03CF76AF-FF72-4430-A772-058403290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Next LT Pro" panose="02020404030301010803"/>
              <a:ea typeface="+mn-ea"/>
              <a:cs typeface="+mn-cs"/>
            </a:endParaRPr>
          </a:p>
        </p:txBody>
      </p:sp>
      <p:sp>
        <p:nvSpPr>
          <p:cNvPr id="2" name="Title 1">
            <a:extLst>
              <a:ext uri="{FF2B5EF4-FFF2-40B4-BE49-F238E27FC236}">
                <a16:creationId xmlns:a16="http://schemas.microsoft.com/office/drawing/2014/main" id="{F6835402-D2B0-0CBE-EB54-C045B287E692}"/>
              </a:ext>
            </a:extLst>
          </p:cNvPr>
          <p:cNvSpPr>
            <a:spLocks noGrp="1"/>
          </p:cNvSpPr>
          <p:nvPr>
            <p:ph type="ctrTitle"/>
          </p:nvPr>
        </p:nvSpPr>
        <p:spPr>
          <a:xfrm>
            <a:off x="1771132" y="2091263"/>
            <a:ext cx="8649738" cy="2590800"/>
          </a:xfrm>
        </p:spPr>
        <p:txBody>
          <a:bodyPr>
            <a:noAutofit/>
          </a:bodyPr>
          <a:lstStyle/>
          <a:p>
            <a:r>
              <a:rPr lang="en-US" sz="4800" dirty="0"/>
              <a:t>Exploring the Obesity-Diabetes Relationship in Black and LATIN Communities</a:t>
            </a:r>
          </a:p>
        </p:txBody>
      </p:sp>
      <p:sp>
        <p:nvSpPr>
          <p:cNvPr id="3" name="Subtitle 2">
            <a:extLst>
              <a:ext uri="{FF2B5EF4-FFF2-40B4-BE49-F238E27FC236}">
                <a16:creationId xmlns:a16="http://schemas.microsoft.com/office/drawing/2014/main" id="{04F5EA9B-D7C1-F523-C539-462B2EB6D765}"/>
              </a:ext>
            </a:extLst>
          </p:cNvPr>
          <p:cNvSpPr>
            <a:spLocks noGrp="1"/>
          </p:cNvSpPr>
          <p:nvPr>
            <p:ph type="subTitle" idx="1"/>
          </p:nvPr>
        </p:nvSpPr>
        <p:spPr>
          <a:xfrm>
            <a:off x="1771130" y="4682062"/>
            <a:ext cx="8652788" cy="679649"/>
          </a:xfrm>
        </p:spPr>
        <p:txBody>
          <a:bodyPr>
            <a:noAutofit/>
          </a:bodyPr>
          <a:lstStyle/>
          <a:p>
            <a:r>
              <a:rPr lang="en-US" sz="1400" dirty="0"/>
              <a:t>Manuela Deigh</a:t>
            </a:r>
          </a:p>
          <a:p>
            <a:r>
              <a:rPr lang="en-US" sz="1400" dirty="0"/>
              <a:t>BIOL 447-01</a:t>
            </a:r>
          </a:p>
          <a:p>
            <a:endParaRPr lang="en-US" sz="1400" dirty="0"/>
          </a:p>
        </p:txBody>
      </p:sp>
      <p:sp>
        <p:nvSpPr>
          <p:cNvPr id="13" name="Rectangle 12">
            <a:extLst>
              <a:ext uri="{FF2B5EF4-FFF2-40B4-BE49-F238E27FC236}">
                <a16:creationId xmlns:a16="http://schemas.microsoft.com/office/drawing/2014/main" id="{0B1C8180-2FDD-4202-8C45-4057CB1AB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venir Next LT Pro" panose="02020404030301010803"/>
              <a:ea typeface="+mn-ea"/>
              <a:cs typeface="+mn-cs"/>
            </a:endParaRPr>
          </a:p>
        </p:txBody>
      </p:sp>
      <p:cxnSp>
        <p:nvCxnSpPr>
          <p:cNvPr id="15" name="Straight Connector 14">
            <a:extLst>
              <a:ext uri="{FF2B5EF4-FFF2-40B4-BE49-F238E27FC236}">
                <a16:creationId xmlns:a16="http://schemas.microsoft.com/office/drawing/2014/main" id="{D6E86CC6-13EA-4A88-86AD-CF27BF52CC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267730"/>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F80B441-4F7D-4B40-8A13-FED03A1F3A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41820" y="1267730"/>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0C7FD1A-44B1-4E4C-B0C9-A8103DCCDCC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913025"/>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4598749"/>
      </p:ext>
    </p:extLst>
  </p:cSld>
  <p:clrMapOvr>
    <a:masterClrMapping/>
  </p:clrMapOvr>
  <mc:AlternateContent xmlns:mc="http://schemas.openxmlformats.org/markup-compatibility/2006" xmlns:p14="http://schemas.microsoft.com/office/powerpoint/2010/main">
    <mc:Choice Requires="p14">
      <p:transition spd="slow" p14:dur="2000" advTm="9369"/>
    </mc:Choice>
    <mc:Fallback xmlns="">
      <p:transition spd="slow" advTm="936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6896FB-0469-7A71-692E-E7BDFDC38E9E}"/>
              </a:ext>
            </a:extLst>
          </p:cNvPr>
          <p:cNvSpPr>
            <a:spLocks noGrp="1"/>
          </p:cNvSpPr>
          <p:nvPr>
            <p:ph idx="1"/>
          </p:nvPr>
        </p:nvSpPr>
        <p:spPr>
          <a:xfrm>
            <a:off x="473982" y="488542"/>
            <a:ext cx="11244036" cy="5880916"/>
          </a:xfrm>
          <a:solidFill>
            <a:schemeClr val="accent1">
              <a:lumMod val="40000"/>
              <a:lumOff val="60000"/>
            </a:schemeClr>
          </a:solidFill>
          <a:ln>
            <a:solidFill>
              <a:schemeClr val="accent1">
                <a:lumMod val="60000"/>
                <a:lumOff val="40000"/>
              </a:schemeClr>
            </a:solidFill>
          </a:ln>
        </p:spPr>
        <p:txBody>
          <a:bodyPr anchor="ctr">
            <a:normAutofit/>
          </a:bodyPr>
          <a:lstStyle/>
          <a:p>
            <a:pPr marL="0" indent="0" algn="ctr">
              <a:buNone/>
            </a:pPr>
            <a:r>
              <a:rPr lang="en-US" sz="6000" b="1" dirty="0">
                <a:solidFill>
                  <a:srgbClr val="FFFFFF"/>
                </a:solidFill>
                <a:latin typeface="American Typewriter" panose="02090604020004020304" pitchFamily="18" charset="77"/>
                <a:cs typeface="Times New Roman" panose="02020603050405020304" pitchFamily="18" charset="0"/>
              </a:rPr>
              <a:t>Introduction</a:t>
            </a:r>
          </a:p>
        </p:txBody>
      </p:sp>
    </p:spTree>
    <p:extLst>
      <p:ext uri="{BB962C8B-B14F-4D97-AF65-F5344CB8AC3E}">
        <p14:creationId xmlns:p14="http://schemas.microsoft.com/office/powerpoint/2010/main" val="1630077958"/>
      </p:ext>
    </p:extLst>
  </p:cSld>
  <p:clrMapOvr>
    <a:masterClrMapping/>
  </p:clrMapOvr>
  <mc:AlternateContent xmlns:mc="http://schemas.openxmlformats.org/markup-compatibility/2006" xmlns:p14="http://schemas.microsoft.com/office/powerpoint/2010/main">
    <mc:Choice Requires="p14">
      <p:transition spd="slow" p14:dur="2000" advTm="1089"/>
    </mc:Choice>
    <mc:Fallback xmlns="">
      <p:transition spd="slow" advTm="108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6A749-ADD6-E3C6-8CBE-13F8CA33FAF1}"/>
              </a:ext>
            </a:extLst>
          </p:cNvPr>
          <p:cNvSpPr>
            <a:spLocks noGrp="1"/>
          </p:cNvSpPr>
          <p:nvPr>
            <p:ph type="title"/>
          </p:nvPr>
        </p:nvSpPr>
        <p:spPr>
          <a:xfrm>
            <a:off x="1066800" y="180201"/>
            <a:ext cx="10058400" cy="1371600"/>
          </a:xfrm>
        </p:spPr>
        <p:txBody>
          <a:bodyPr/>
          <a:lstStyle/>
          <a:p>
            <a:pPr algn="ctr"/>
            <a:r>
              <a:rPr lang="en-US" dirty="0"/>
              <a:t>BACKGROUND</a:t>
            </a:r>
          </a:p>
        </p:txBody>
      </p:sp>
      <p:sp>
        <p:nvSpPr>
          <p:cNvPr id="6" name="Rectangle 5">
            <a:extLst>
              <a:ext uri="{FF2B5EF4-FFF2-40B4-BE49-F238E27FC236}">
                <a16:creationId xmlns:a16="http://schemas.microsoft.com/office/drawing/2014/main" id="{AEF136BA-4E74-FB6F-6B87-11B0E311A848}"/>
              </a:ext>
            </a:extLst>
          </p:cNvPr>
          <p:cNvSpPr/>
          <p:nvPr/>
        </p:nvSpPr>
        <p:spPr>
          <a:xfrm>
            <a:off x="627289" y="1335376"/>
            <a:ext cx="2905126" cy="1754326"/>
          </a:xfrm>
          <a:prstGeom prst="rect">
            <a:avLst/>
          </a:prstGeom>
          <a:solidFill>
            <a:schemeClr val="accent1">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15CF2EB9-1FA5-66AF-2899-1462148A9FE9}"/>
              </a:ext>
            </a:extLst>
          </p:cNvPr>
          <p:cNvSpPr txBox="1"/>
          <p:nvPr/>
        </p:nvSpPr>
        <p:spPr>
          <a:xfrm>
            <a:off x="627289" y="1335376"/>
            <a:ext cx="3035753" cy="2031325"/>
          </a:xfrm>
          <a:prstGeom prst="rect">
            <a:avLst/>
          </a:prstGeom>
          <a:noFill/>
        </p:spPr>
        <p:txBody>
          <a:bodyPr wrap="square" rtlCol="0">
            <a:spAutoFit/>
          </a:bodyPr>
          <a:lstStyle/>
          <a:p>
            <a:r>
              <a:rPr lang="en-US" sz="1800" kern="1200" dirty="0">
                <a:solidFill>
                  <a:schemeClr val="tx1"/>
                </a:solidFill>
                <a:latin typeface="+mn-lt"/>
                <a:ea typeface="+mn-ea"/>
                <a:cs typeface="+mn-cs"/>
              </a:rPr>
              <a:t>Obesity and diabetes are two major public health issues that significantly impact both individual well-being and healthcare systems.</a:t>
            </a:r>
            <a:endParaRPr lang="en-US" dirty="0"/>
          </a:p>
          <a:p>
            <a:endParaRPr lang="en-US" dirty="0"/>
          </a:p>
        </p:txBody>
      </p:sp>
      <p:sp>
        <p:nvSpPr>
          <p:cNvPr id="9" name="Rectangle 8">
            <a:extLst>
              <a:ext uri="{FF2B5EF4-FFF2-40B4-BE49-F238E27FC236}">
                <a16:creationId xmlns:a16="http://schemas.microsoft.com/office/drawing/2014/main" id="{34E6014F-6BD4-B4D1-AB6B-05289E3099DA}"/>
              </a:ext>
            </a:extLst>
          </p:cNvPr>
          <p:cNvSpPr/>
          <p:nvPr/>
        </p:nvSpPr>
        <p:spPr>
          <a:xfrm>
            <a:off x="4904014" y="1260039"/>
            <a:ext cx="2383972" cy="19050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8C0EEE0-1FFF-F7A0-951F-9776548533BD}"/>
              </a:ext>
            </a:extLst>
          </p:cNvPr>
          <p:cNvSpPr txBox="1"/>
          <p:nvPr/>
        </p:nvSpPr>
        <p:spPr>
          <a:xfrm>
            <a:off x="4895849" y="1260039"/>
            <a:ext cx="2628900" cy="2092881"/>
          </a:xfrm>
          <a:prstGeom prst="rect">
            <a:avLst/>
          </a:prstGeom>
          <a:noFill/>
        </p:spPr>
        <p:txBody>
          <a:bodyPr wrap="square" rtlCol="0">
            <a:spAutoFit/>
          </a:bodyPr>
          <a:lstStyle/>
          <a:p>
            <a:r>
              <a:rPr lang="en-US" sz="1600" kern="100" dirty="0">
                <a:effectLst/>
                <a:ea typeface="Calibri" panose="020F0502020204030204" pitchFamily="34" charset="0"/>
                <a:cs typeface="Times New Roman" panose="02020603050405020304" pitchFamily="18" charset="0"/>
              </a:rPr>
              <a:t>Diabetes is a chronic medical condition that occurs when the body is unable to properly regulate blood glucose level. There are two type of diabetes:</a:t>
            </a:r>
          </a:p>
          <a:p>
            <a:endParaRPr lang="en-US" dirty="0"/>
          </a:p>
        </p:txBody>
      </p:sp>
      <p:sp>
        <p:nvSpPr>
          <p:cNvPr id="11" name="Rectangle 10">
            <a:extLst>
              <a:ext uri="{FF2B5EF4-FFF2-40B4-BE49-F238E27FC236}">
                <a16:creationId xmlns:a16="http://schemas.microsoft.com/office/drawing/2014/main" id="{3C9C88A7-417C-3895-FE44-9D6C82B850F4}"/>
              </a:ext>
            </a:extLst>
          </p:cNvPr>
          <p:cNvSpPr/>
          <p:nvPr/>
        </p:nvSpPr>
        <p:spPr>
          <a:xfrm>
            <a:off x="2220686" y="3831771"/>
            <a:ext cx="3826329" cy="2449286"/>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9215690-34B7-3627-C43E-1941CB4189D0}"/>
              </a:ext>
            </a:extLst>
          </p:cNvPr>
          <p:cNvSpPr/>
          <p:nvPr/>
        </p:nvSpPr>
        <p:spPr>
          <a:xfrm>
            <a:off x="6144986" y="3831771"/>
            <a:ext cx="3369128" cy="2449286"/>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D196B4CF-C9DB-F44A-F524-8FAAE8A37744}"/>
              </a:ext>
            </a:extLst>
          </p:cNvPr>
          <p:cNvCxnSpPr>
            <a:cxnSpLocks/>
            <a:endCxn id="11" idx="0"/>
          </p:cNvCxnSpPr>
          <p:nvPr/>
        </p:nvCxnSpPr>
        <p:spPr>
          <a:xfrm flipH="1">
            <a:off x="4133851" y="3165039"/>
            <a:ext cx="1221920" cy="6667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1B4A3BE-7F44-3E8E-87AB-D640DFDC3C6B}"/>
              </a:ext>
            </a:extLst>
          </p:cNvPr>
          <p:cNvCxnSpPr>
            <a:cxnSpLocks/>
            <a:endCxn id="12" idx="0"/>
          </p:cNvCxnSpPr>
          <p:nvPr/>
        </p:nvCxnSpPr>
        <p:spPr>
          <a:xfrm>
            <a:off x="6653894" y="3150338"/>
            <a:ext cx="1175656" cy="681433"/>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85D6AD66-4188-408A-83A9-F4F0D38E3F9D}"/>
              </a:ext>
            </a:extLst>
          </p:cNvPr>
          <p:cNvSpPr/>
          <p:nvPr/>
        </p:nvSpPr>
        <p:spPr>
          <a:xfrm>
            <a:off x="9118146" y="1260039"/>
            <a:ext cx="2286000" cy="1959428"/>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spcBef>
                <a:spcPts val="0"/>
              </a:spcBef>
              <a:spcAft>
                <a:spcPts val="0"/>
              </a:spcAft>
            </a:pPr>
            <a:r>
              <a:rPr lang="en-US" sz="1800" kern="100" dirty="0">
                <a:solidFill>
                  <a:schemeClr val="tx1"/>
                </a:solidFill>
                <a:effectLst/>
                <a:ea typeface="Calibri" panose="020F0502020204030204" pitchFamily="34" charset="0"/>
                <a:cs typeface="Times New Roman" panose="02020603050405020304" pitchFamily="18" charset="0"/>
              </a:rPr>
              <a:t>In this research I will be focusing on type 2 diabetes and how obesity is a risk factor for developing type 2 diabetes</a:t>
            </a:r>
          </a:p>
        </p:txBody>
      </p:sp>
      <p:sp>
        <p:nvSpPr>
          <p:cNvPr id="23" name="TextBox 22">
            <a:extLst>
              <a:ext uri="{FF2B5EF4-FFF2-40B4-BE49-F238E27FC236}">
                <a16:creationId xmlns:a16="http://schemas.microsoft.com/office/drawing/2014/main" id="{F7746347-662A-3156-3D9A-7563A1AA00B3}"/>
              </a:ext>
            </a:extLst>
          </p:cNvPr>
          <p:cNvSpPr txBox="1"/>
          <p:nvPr/>
        </p:nvSpPr>
        <p:spPr>
          <a:xfrm>
            <a:off x="2300965" y="3831771"/>
            <a:ext cx="3746050" cy="2723823"/>
          </a:xfrm>
          <a:prstGeom prst="rect">
            <a:avLst/>
          </a:prstGeom>
          <a:noFill/>
        </p:spPr>
        <p:txBody>
          <a:bodyPr wrap="square" rtlCol="0">
            <a:spAutoFit/>
          </a:bodyPr>
          <a:lstStyle/>
          <a:p>
            <a:r>
              <a:rPr lang="en-US" sz="1700" kern="100" dirty="0">
                <a:effectLst/>
                <a:ea typeface="Calibri" panose="020F0502020204030204" pitchFamily="34" charset="0"/>
                <a:cs typeface="Times New Roman" panose="02020603050405020304" pitchFamily="18" charset="0"/>
              </a:rPr>
              <a:t>Type 1 diabetes is when the immune system mistakenly attacks and destroys the insulin-producing beta cells in the pancreas. As a result, the body produces little to no insulin. People with type 1 diabetes need to take insulin injections or use an insulin pump to manage their blood sugar levels.</a:t>
            </a:r>
          </a:p>
          <a:p>
            <a:endParaRPr lang="en-US" dirty="0"/>
          </a:p>
        </p:txBody>
      </p:sp>
      <p:sp>
        <p:nvSpPr>
          <p:cNvPr id="28" name="TextBox 27">
            <a:extLst>
              <a:ext uri="{FF2B5EF4-FFF2-40B4-BE49-F238E27FC236}">
                <a16:creationId xmlns:a16="http://schemas.microsoft.com/office/drawing/2014/main" id="{71036B42-1E9E-B2AE-57ED-0F50E4D5108D}"/>
              </a:ext>
            </a:extLst>
          </p:cNvPr>
          <p:cNvSpPr txBox="1"/>
          <p:nvPr/>
        </p:nvSpPr>
        <p:spPr>
          <a:xfrm>
            <a:off x="6127294" y="3831771"/>
            <a:ext cx="3586844" cy="2449286"/>
          </a:xfrm>
          <a:prstGeom prst="rect">
            <a:avLst/>
          </a:prstGeom>
          <a:noFill/>
        </p:spPr>
        <p:txBody>
          <a:bodyPr wrap="square" rtlCol="0">
            <a:spAutoFit/>
          </a:bodyPr>
          <a:lstStyle/>
          <a:p>
            <a:r>
              <a:rPr lang="en-US" sz="1700" kern="100" dirty="0">
                <a:effectLst/>
                <a:ea typeface="Calibri" panose="020F0502020204030204" pitchFamily="34" charset="0"/>
                <a:cs typeface="Times New Roman" panose="02020603050405020304" pitchFamily="18" charset="0"/>
              </a:rPr>
              <a:t>Type 2 diabetes is a more common form of diabetes. the body doesn't use insulin properly and over time, the pancreas may not produce enough insulin to meet the body's needs. This type is often associated with lifestyle factors such as poor diet, lack of physical activity, and obesity. </a:t>
            </a:r>
            <a:endParaRPr lang="en-US" sz="1700" dirty="0"/>
          </a:p>
        </p:txBody>
      </p:sp>
    </p:spTree>
    <p:extLst>
      <p:ext uri="{BB962C8B-B14F-4D97-AF65-F5344CB8AC3E}">
        <p14:creationId xmlns:p14="http://schemas.microsoft.com/office/powerpoint/2010/main" val="4099254011"/>
      </p:ext>
    </p:extLst>
  </p:cSld>
  <p:clrMapOvr>
    <a:masterClrMapping/>
  </p:clrMapOvr>
  <mc:AlternateContent xmlns:mc="http://schemas.openxmlformats.org/markup-compatibility/2006" xmlns:p14="http://schemas.microsoft.com/office/powerpoint/2010/main">
    <mc:Choice Requires="p14">
      <p:transition spd="slow" p14:dur="2000" advTm="73568"/>
    </mc:Choice>
    <mc:Fallback xmlns="">
      <p:transition spd="slow" advTm="7356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8B5C4-7502-0979-E6A8-887139B64546}"/>
              </a:ext>
            </a:extLst>
          </p:cNvPr>
          <p:cNvSpPr>
            <a:spLocks noGrp="1"/>
          </p:cNvSpPr>
          <p:nvPr>
            <p:ph type="title"/>
          </p:nvPr>
        </p:nvSpPr>
        <p:spPr/>
        <p:txBody>
          <a:bodyPr/>
          <a:lstStyle/>
          <a:p>
            <a:r>
              <a:rPr lang="en-US" dirty="0"/>
              <a:t>Research Question</a:t>
            </a:r>
          </a:p>
        </p:txBody>
      </p:sp>
      <p:graphicFrame>
        <p:nvGraphicFramePr>
          <p:cNvPr id="4" name="Content Placeholder 3">
            <a:extLst>
              <a:ext uri="{FF2B5EF4-FFF2-40B4-BE49-F238E27FC236}">
                <a16:creationId xmlns:a16="http://schemas.microsoft.com/office/drawing/2014/main" id="{9A69FEA1-5964-4C3B-F090-AB4E432FE5A3}"/>
              </a:ext>
            </a:extLst>
          </p:cNvPr>
          <p:cNvGraphicFramePr>
            <a:graphicFrameLocks noGrp="1"/>
          </p:cNvGraphicFramePr>
          <p:nvPr>
            <p:ph idx="1"/>
            <p:extLst>
              <p:ext uri="{D42A27DB-BD31-4B8C-83A1-F6EECF244321}">
                <p14:modId xmlns:p14="http://schemas.microsoft.com/office/powerpoint/2010/main" val="3607856241"/>
              </p:ext>
            </p:extLst>
          </p:nvPr>
        </p:nvGraphicFramePr>
        <p:xfrm>
          <a:off x="1066800" y="2103438"/>
          <a:ext cx="10058400" cy="38496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5491389"/>
      </p:ext>
    </p:extLst>
  </p:cSld>
  <p:clrMapOvr>
    <a:masterClrMapping/>
  </p:clrMapOvr>
  <mc:AlternateContent xmlns:mc="http://schemas.openxmlformats.org/markup-compatibility/2006" xmlns:p14="http://schemas.microsoft.com/office/powerpoint/2010/main">
    <mc:Choice Requires="p14">
      <p:transition spd="slow" p14:dur="2000" advTm="54949"/>
    </mc:Choice>
    <mc:Fallback xmlns="">
      <p:transition spd="slow" advTm="5494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2D111-C47F-B3C6-31D9-284FFACF2835}"/>
              </a:ext>
            </a:extLst>
          </p:cNvPr>
          <p:cNvSpPr>
            <a:spLocks noGrp="1"/>
          </p:cNvSpPr>
          <p:nvPr>
            <p:ph type="title"/>
          </p:nvPr>
        </p:nvSpPr>
        <p:spPr>
          <a:xfrm>
            <a:off x="676240" y="875324"/>
            <a:ext cx="3536510" cy="5093520"/>
          </a:xfrm>
        </p:spPr>
        <p:txBody>
          <a:bodyPr>
            <a:normAutofit/>
          </a:bodyPr>
          <a:lstStyle/>
          <a:p>
            <a:pPr algn="ctr"/>
            <a:r>
              <a:rPr lang="en-US" sz="4400">
                <a:solidFill>
                  <a:schemeClr val="tx1"/>
                </a:solidFill>
              </a:rPr>
              <a:t>Literature Review</a:t>
            </a:r>
          </a:p>
        </p:txBody>
      </p:sp>
      <p:sp>
        <p:nvSpPr>
          <p:cNvPr id="3" name="Content Placeholder 2">
            <a:extLst>
              <a:ext uri="{FF2B5EF4-FFF2-40B4-BE49-F238E27FC236}">
                <a16:creationId xmlns:a16="http://schemas.microsoft.com/office/drawing/2014/main" id="{00680EFB-2F89-2DDC-A694-15DC52EDA9CD}"/>
              </a:ext>
            </a:extLst>
          </p:cNvPr>
          <p:cNvSpPr>
            <a:spLocks noGrp="1"/>
          </p:cNvSpPr>
          <p:nvPr>
            <p:ph idx="1"/>
          </p:nvPr>
        </p:nvSpPr>
        <p:spPr>
          <a:xfrm>
            <a:off x="5478124" y="559477"/>
            <a:ext cx="5647076" cy="5475563"/>
          </a:xfrm>
        </p:spPr>
        <p:txBody>
          <a:bodyPr anchor="ctr">
            <a:normAutofit fontScale="92500" lnSpcReduction="10000"/>
          </a:bodyPr>
          <a:lstStyle/>
          <a:p>
            <a:pPr>
              <a:lnSpc>
                <a:spcPct val="100000"/>
              </a:lnSpc>
            </a:pPr>
            <a:r>
              <a:rPr lang="en-US" sz="1900" b="1" dirty="0"/>
              <a:t>Paper: </a:t>
            </a:r>
            <a:r>
              <a:rPr lang="en-US" sz="1900" dirty="0"/>
              <a:t>“Longitudinal Associations between Obesity, Inflammation, and the Incidence of Type 2 Diabetes Mellitus among US Black and White Adults in the CARDIA (A cohort of nondiabetic respondents from the Coronary Artery Risk Development in Young Adults) Study</a:t>
            </a:r>
          </a:p>
          <a:p>
            <a:pPr>
              <a:lnSpc>
                <a:spcPct val="100000"/>
              </a:lnSpc>
            </a:pPr>
            <a:r>
              <a:rPr lang="en-US" sz="1900" b="1" dirty="0"/>
              <a:t>Study: </a:t>
            </a:r>
            <a:r>
              <a:rPr lang="en-US" sz="1900" dirty="0"/>
              <a:t>This study was aim to assess prospective relationship between obesity and inflammatory biomarkers (e.g. C-reactive protein) and the risk of developing type II diabetes. The paper also wanted to determine if this observed association between inflammatory biomarkers and type II diabetes varied by race.</a:t>
            </a:r>
          </a:p>
          <a:p>
            <a:pPr>
              <a:lnSpc>
                <a:spcPct val="100000"/>
              </a:lnSpc>
            </a:pPr>
            <a:r>
              <a:rPr lang="en-US" sz="1900" b="1" dirty="0"/>
              <a:t>Key points: </a:t>
            </a:r>
          </a:p>
          <a:p>
            <a:pPr lvl="1">
              <a:lnSpc>
                <a:spcPct val="100000"/>
              </a:lnSpc>
            </a:pPr>
            <a:r>
              <a:rPr lang="en-US" sz="1900" dirty="0"/>
              <a:t>Obesity is a risk factor for developing type II diabetes for both black and white</a:t>
            </a:r>
          </a:p>
          <a:p>
            <a:pPr lvl="1">
              <a:lnSpc>
                <a:spcPct val="100000"/>
              </a:lnSpc>
            </a:pPr>
            <a:r>
              <a:rPr lang="en-US" sz="1900" dirty="0"/>
              <a:t>Additional studies are needed to further investigate differences in the relationship between inflammatory biomarkers and diabetes by race</a:t>
            </a:r>
          </a:p>
        </p:txBody>
      </p:sp>
    </p:spTree>
    <p:extLst>
      <p:ext uri="{BB962C8B-B14F-4D97-AF65-F5344CB8AC3E}">
        <p14:creationId xmlns:p14="http://schemas.microsoft.com/office/powerpoint/2010/main" val="1134039937"/>
      </p:ext>
    </p:extLst>
  </p:cSld>
  <p:clrMapOvr>
    <a:masterClrMapping/>
  </p:clrMapOvr>
  <mc:AlternateContent xmlns:mc="http://schemas.openxmlformats.org/markup-compatibility/2006" xmlns:p14="http://schemas.microsoft.com/office/powerpoint/2010/main">
    <mc:Choice Requires="p14">
      <p:transition spd="slow" p14:dur="2000" advTm="55566"/>
    </mc:Choice>
    <mc:Fallback xmlns="">
      <p:transition spd="slow" advTm="5556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6896FB-0469-7A71-692E-E7BDFDC38E9E}"/>
              </a:ext>
            </a:extLst>
          </p:cNvPr>
          <p:cNvSpPr>
            <a:spLocks noGrp="1"/>
          </p:cNvSpPr>
          <p:nvPr>
            <p:ph idx="1"/>
          </p:nvPr>
        </p:nvSpPr>
        <p:spPr>
          <a:xfrm>
            <a:off x="473982" y="488542"/>
            <a:ext cx="11244036" cy="5880916"/>
          </a:xfrm>
          <a:solidFill>
            <a:schemeClr val="accent1">
              <a:lumMod val="40000"/>
              <a:lumOff val="60000"/>
            </a:schemeClr>
          </a:solidFill>
          <a:ln>
            <a:solidFill>
              <a:schemeClr val="accent1">
                <a:lumMod val="60000"/>
                <a:lumOff val="40000"/>
              </a:schemeClr>
            </a:solidFill>
          </a:ln>
        </p:spPr>
        <p:txBody>
          <a:bodyPr anchor="ctr">
            <a:normAutofit/>
          </a:bodyPr>
          <a:lstStyle/>
          <a:p>
            <a:pPr marL="0" indent="0" algn="ctr">
              <a:buNone/>
            </a:pPr>
            <a:r>
              <a:rPr lang="en-US" sz="6000" b="1" dirty="0">
                <a:solidFill>
                  <a:srgbClr val="FFFFFF"/>
                </a:solidFill>
                <a:latin typeface="American Typewriter" panose="02090604020004020304" pitchFamily="18" charset="77"/>
                <a:cs typeface="Times New Roman" panose="02020603050405020304" pitchFamily="18" charset="0"/>
              </a:rPr>
              <a:t>Methods</a:t>
            </a:r>
          </a:p>
        </p:txBody>
      </p:sp>
    </p:spTree>
    <p:extLst>
      <p:ext uri="{BB962C8B-B14F-4D97-AF65-F5344CB8AC3E}">
        <p14:creationId xmlns:p14="http://schemas.microsoft.com/office/powerpoint/2010/main" val="3370175138"/>
      </p:ext>
    </p:extLst>
  </p:cSld>
  <p:clrMapOvr>
    <a:masterClrMapping/>
  </p:clrMapOvr>
  <mc:AlternateContent xmlns:mc="http://schemas.openxmlformats.org/markup-compatibility/2006" xmlns:p14="http://schemas.microsoft.com/office/powerpoint/2010/main">
    <mc:Choice Requires="p14">
      <p:transition spd="slow" p14:dur="2000" advTm="973"/>
    </mc:Choice>
    <mc:Fallback xmlns="">
      <p:transition spd="slow" advTm="97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DA59063E-81A4-BF0C-917F-9C228472B2B2}"/>
              </a:ext>
            </a:extLst>
          </p:cNvPr>
          <p:cNvSpPr/>
          <p:nvPr/>
        </p:nvSpPr>
        <p:spPr>
          <a:xfrm>
            <a:off x="4604337" y="745790"/>
            <a:ext cx="2944961" cy="681032"/>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own Arrow 4">
            <a:extLst>
              <a:ext uri="{FF2B5EF4-FFF2-40B4-BE49-F238E27FC236}">
                <a16:creationId xmlns:a16="http://schemas.microsoft.com/office/drawing/2014/main" id="{F992FB45-DB3D-74DF-60EA-7144064B59F7}"/>
              </a:ext>
            </a:extLst>
          </p:cNvPr>
          <p:cNvSpPr/>
          <p:nvPr/>
        </p:nvSpPr>
        <p:spPr>
          <a:xfrm>
            <a:off x="5784234" y="1447554"/>
            <a:ext cx="402894" cy="805787"/>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4122254-7960-6545-62B7-CF32674CE9E2}"/>
              </a:ext>
            </a:extLst>
          </p:cNvPr>
          <p:cNvSpPr txBox="1"/>
          <p:nvPr/>
        </p:nvSpPr>
        <p:spPr>
          <a:xfrm>
            <a:off x="4738629" y="643467"/>
            <a:ext cx="2944960" cy="848460"/>
          </a:xfrm>
          <a:prstGeom prst="rect">
            <a:avLst/>
          </a:prstGeom>
          <a:noFill/>
        </p:spPr>
        <p:txBody>
          <a:bodyPr wrap="square" rtlCol="0">
            <a:spAutoFit/>
          </a:bodyPr>
          <a:lstStyle/>
          <a:p>
            <a:pPr defTabSz="823349">
              <a:spcAft>
                <a:spcPts val="581"/>
              </a:spcAft>
            </a:pPr>
            <a:r>
              <a:rPr lang="en-US" sz="1621" kern="1200">
                <a:solidFill>
                  <a:schemeClr val="tx1"/>
                </a:solidFill>
                <a:latin typeface="+mn-lt"/>
                <a:ea typeface="+mn-ea"/>
                <a:cs typeface="+mn-cs"/>
              </a:rPr>
              <a:t>American community survey(ACS) data and PLACES data</a:t>
            </a:r>
            <a:endParaRPr lang="en-US"/>
          </a:p>
        </p:txBody>
      </p:sp>
      <p:sp>
        <p:nvSpPr>
          <p:cNvPr id="9" name="Down Arrow 8">
            <a:extLst>
              <a:ext uri="{FF2B5EF4-FFF2-40B4-BE49-F238E27FC236}">
                <a16:creationId xmlns:a16="http://schemas.microsoft.com/office/drawing/2014/main" id="{F9030100-62C3-B187-A3EF-A301FAACA60E}"/>
              </a:ext>
            </a:extLst>
          </p:cNvPr>
          <p:cNvSpPr/>
          <p:nvPr/>
        </p:nvSpPr>
        <p:spPr>
          <a:xfrm>
            <a:off x="5808215" y="3059934"/>
            <a:ext cx="402894" cy="805787"/>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92B72397-1582-46A1-C04D-4EC184588E8F}"/>
              </a:ext>
            </a:extLst>
          </p:cNvPr>
          <p:cNvSpPr/>
          <p:nvPr/>
        </p:nvSpPr>
        <p:spPr>
          <a:xfrm>
            <a:off x="4604337" y="2311878"/>
            <a:ext cx="2944961" cy="681032"/>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BFC2C98-5B0C-AB19-9CDB-50886070BDFA}"/>
              </a:ext>
            </a:extLst>
          </p:cNvPr>
          <p:cNvSpPr txBox="1"/>
          <p:nvPr/>
        </p:nvSpPr>
        <p:spPr>
          <a:xfrm>
            <a:off x="4796192" y="2295215"/>
            <a:ext cx="2657179" cy="764142"/>
          </a:xfrm>
          <a:prstGeom prst="rect">
            <a:avLst/>
          </a:prstGeom>
          <a:noFill/>
        </p:spPr>
        <p:txBody>
          <a:bodyPr wrap="square" rtlCol="0">
            <a:spAutoFit/>
          </a:bodyPr>
          <a:lstStyle/>
          <a:p>
            <a:pPr defTabSz="823349">
              <a:spcAft>
                <a:spcPts val="581"/>
              </a:spcAft>
            </a:pPr>
            <a:r>
              <a:rPr lang="en-US" sz="1441" kern="1200">
                <a:solidFill>
                  <a:schemeClr val="tx1"/>
                </a:solidFill>
                <a:latin typeface="+mn-lt"/>
                <a:ea typeface="+mn-ea"/>
                <a:cs typeface="+mn-cs"/>
              </a:rPr>
              <a:t>Selected data for percentage of obesity, diabetes, Black, and Latin community </a:t>
            </a:r>
            <a:endParaRPr lang="en-US" sz="1600"/>
          </a:p>
        </p:txBody>
      </p:sp>
      <p:sp>
        <p:nvSpPr>
          <p:cNvPr id="12" name="Rounded Rectangle 11">
            <a:extLst>
              <a:ext uri="{FF2B5EF4-FFF2-40B4-BE49-F238E27FC236}">
                <a16:creationId xmlns:a16="http://schemas.microsoft.com/office/drawing/2014/main" id="{ED304678-3453-4899-DA1E-125587BFF249}"/>
              </a:ext>
            </a:extLst>
          </p:cNvPr>
          <p:cNvSpPr/>
          <p:nvPr/>
        </p:nvSpPr>
        <p:spPr>
          <a:xfrm>
            <a:off x="4604337" y="3900967"/>
            <a:ext cx="2944961" cy="681032"/>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8219335-453A-B9DD-349F-E9B1B4BFA3B2}"/>
              </a:ext>
            </a:extLst>
          </p:cNvPr>
          <p:cNvSpPr txBox="1"/>
          <p:nvPr/>
        </p:nvSpPr>
        <p:spPr>
          <a:xfrm>
            <a:off x="4748227" y="3871996"/>
            <a:ext cx="2657179" cy="764142"/>
          </a:xfrm>
          <a:prstGeom prst="rect">
            <a:avLst/>
          </a:prstGeom>
          <a:noFill/>
        </p:spPr>
        <p:txBody>
          <a:bodyPr wrap="square" rtlCol="0">
            <a:spAutoFit/>
          </a:bodyPr>
          <a:lstStyle/>
          <a:p>
            <a:pPr defTabSz="823349">
              <a:spcAft>
                <a:spcPts val="581"/>
              </a:spcAft>
            </a:pPr>
            <a:r>
              <a:rPr lang="en-US" sz="1441" kern="1200">
                <a:solidFill>
                  <a:schemeClr val="tx1"/>
                </a:solidFill>
                <a:latin typeface="+mn-lt"/>
                <a:ea typeface="+mn-ea"/>
                <a:cs typeface="+mn-cs"/>
              </a:rPr>
              <a:t>Selected county that has the largest percentage of Black community</a:t>
            </a:r>
            <a:endParaRPr lang="en-US" sz="1600"/>
          </a:p>
        </p:txBody>
      </p:sp>
      <p:sp>
        <p:nvSpPr>
          <p:cNvPr id="15" name="Down Arrow 14">
            <a:extLst>
              <a:ext uri="{FF2B5EF4-FFF2-40B4-BE49-F238E27FC236}">
                <a16:creationId xmlns:a16="http://schemas.microsoft.com/office/drawing/2014/main" id="{3B0BA470-ED2D-C561-41D6-A5D756788773}"/>
              </a:ext>
            </a:extLst>
          </p:cNvPr>
          <p:cNvSpPr/>
          <p:nvPr/>
        </p:nvSpPr>
        <p:spPr>
          <a:xfrm>
            <a:off x="5813010" y="4610969"/>
            <a:ext cx="402894" cy="805787"/>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B6AABFB9-38BE-21D6-6382-EAD59F41E635}"/>
              </a:ext>
            </a:extLst>
          </p:cNvPr>
          <p:cNvSpPr/>
          <p:nvPr/>
        </p:nvSpPr>
        <p:spPr>
          <a:xfrm>
            <a:off x="4508411" y="5490055"/>
            <a:ext cx="2944961" cy="681032"/>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FFC5DE6-2C34-B795-AAE1-7B6F8C004874}"/>
              </a:ext>
            </a:extLst>
          </p:cNvPr>
          <p:cNvSpPr txBox="1"/>
          <p:nvPr/>
        </p:nvSpPr>
        <p:spPr>
          <a:xfrm>
            <a:off x="4796191" y="5450391"/>
            <a:ext cx="2657179" cy="764142"/>
          </a:xfrm>
          <a:prstGeom prst="rect">
            <a:avLst/>
          </a:prstGeom>
          <a:noFill/>
        </p:spPr>
        <p:txBody>
          <a:bodyPr wrap="square" rtlCol="0">
            <a:spAutoFit/>
          </a:bodyPr>
          <a:lstStyle/>
          <a:p>
            <a:pPr defTabSz="823349">
              <a:spcAft>
                <a:spcPts val="581"/>
              </a:spcAft>
            </a:pPr>
            <a:r>
              <a:rPr lang="en-US" sz="1441" kern="1200">
                <a:solidFill>
                  <a:schemeClr val="tx1"/>
                </a:solidFill>
                <a:latin typeface="+mn-lt"/>
                <a:ea typeface="+mn-ea"/>
                <a:cs typeface="+mn-cs"/>
              </a:rPr>
              <a:t>Selected county  that has the largest percentage of Latin community</a:t>
            </a:r>
            <a:endParaRPr lang="en-US" sz="1600"/>
          </a:p>
        </p:txBody>
      </p:sp>
      <p:sp>
        <p:nvSpPr>
          <p:cNvPr id="4" name="TextBox 3">
            <a:extLst>
              <a:ext uri="{FF2B5EF4-FFF2-40B4-BE49-F238E27FC236}">
                <a16:creationId xmlns:a16="http://schemas.microsoft.com/office/drawing/2014/main" id="{77C85998-16BF-4573-1557-9EA3C7593EE0}"/>
              </a:ext>
            </a:extLst>
          </p:cNvPr>
          <p:cNvSpPr txBox="1"/>
          <p:nvPr/>
        </p:nvSpPr>
        <p:spPr>
          <a:xfrm>
            <a:off x="294362" y="593637"/>
            <a:ext cx="4214049" cy="1169551"/>
          </a:xfrm>
          <a:prstGeom prst="rect">
            <a:avLst/>
          </a:prstGeom>
          <a:noFill/>
        </p:spPr>
        <p:txBody>
          <a:bodyPr wrap="square">
            <a:spAutoFit/>
          </a:bodyPr>
          <a:lstStyle/>
          <a:p>
            <a:pPr defTabSz="859536"/>
            <a:r>
              <a:rPr lang="en-US" sz="1400" b="1" kern="1200" dirty="0">
                <a:solidFill>
                  <a:schemeClr val="tx1"/>
                </a:solidFill>
                <a:latin typeface="+mn-lt"/>
                <a:ea typeface="+mn-ea"/>
                <a:cs typeface="+mn-cs"/>
              </a:rPr>
              <a:t>1. </a:t>
            </a:r>
            <a:r>
              <a:rPr lang="en-US" sz="1400" kern="1200" dirty="0">
                <a:solidFill>
                  <a:schemeClr val="tx1"/>
                </a:solidFill>
                <a:latin typeface="+mn-lt"/>
                <a:ea typeface="+mn-ea"/>
                <a:cs typeface="+mn-cs"/>
              </a:rPr>
              <a:t>I used the American Community Survey (ACS) data for my research, encompassing various crucial indicators such as county, state, minority population, obesity rates, diabetes prevalence, blood pressure levels, and more. </a:t>
            </a:r>
          </a:p>
        </p:txBody>
      </p:sp>
      <p:sp>
        <p:nvSpPr>
          <p:cNvPr id="10" name="TextBox 9">
            <a:extLst>
              <a:ext uri="{FF2B5EF4-FFF2-40B4-BE49-F238E27FC236}">
                <a16:creationId xmlns:a16="http://schemas.microsoft.com/office/drawing/2014/main" id="{70C57A13-3F29-F875-1D21-BC435D65B533}"/>
              </a:ext>
            </a:extLst>
          </p:cNvPr>
          <p:cNvSpPr txBox="1"/>
          <p:nvPr/>
        </p:nvSpPr>
        <p:spPr>
          <a:xfrm>
            <a:off x="7549298" y="2247671"/>
            <a:ext cx="4344008" cy="738664"/>
          </a:xfrm>
          <a:prstGeom prst="rect">
            <a:avLst/>
          </a:prstGeom>
          <a:noFill/>
        </p:spPr>
        <p:txBody>
          <a:bodyPr wrap="square">
            <a:spAutoFit/>
          </a:bodyPr>
          <a:lstStyle/>
          <a:p>
            <a:pPr defTabSz="859536"/>
            <a:r>
              <a:rPr lang="en-US" sz="1400" b="1" kern="1200" dirty="0">
                <a:solidFill>
                  <a:schemeClr val="tx1"/>
                </a:solidFill>
                <a:latin typeface="+mn-lt"/>
                <a:ea typeface="+mn-ea"/>
                <a:cs typeface="+mn-cs"/>
              </a:rPr>
              <a:t>2. </a:t>
            </a:r>
            <a:r>
              <a:rPr lang="en-US" sz="1400" kern="1200" dirty="0">
                <a:solidFill>
                  <a:schemeClr val="tx1"/>
                </a:solidFill>
                <a:latin typeface="+mn-lt"/>
                <a:ea typeface="+mn-ea"/>
                <a:cs typeface="+mn-cs"/>
              </a:rPr>
              <a:t>Subsequently, I filtered the dataset to focus specifically on diabetes and obesity, narrowing it down to the Black and Latin communities.</a:t>
            </a:r>
          </a:p>
        </p:txBody>
      </p:sp>
      <p:sp>
        <p:nvSpPr>
          <p:cNvPr id="18" name="TextBox 17">
            <a:extLst>
              <a:ext uri="{FF2B5EF4-FFF2-40B4-BE49-F238E27FC236}">
                <a16:creationId xmlns:a16="http://schemas.microsoft.com/office/drawing/2014/main" id="{A21FCF8C-EA46-A3E7-8798-12F8F5E240C2}"/>
              </a:ext>
            </a:extLst>
          </p:cNvPr>
          <p:cNvSpPr txBox="1"/>
          <p:nvPr/>
        </p:nvSpPr>
        <p:spPr>
          <a:xfrm>
            <a:off x="447824" y="3561427"/>
            <a:ext cx="4175684" cy="1169551"/>
          </a:xfrm>
          <a:prstGeom prst="rect">
            <a:avLst/>
          </a:prstGeom>
          <a:noFill/>
        </p:spPr>
        <p:txBody>
          <a:bodyPr wrap="square">
            <a:spAutoFit/>
          </a:bodyPr>
          <a:lstStyle/>
          <a:p>
            <a:r>
              <a:rPr lang="en-US" sz="1400" b="1" kern="1200" dirty="0">
                <a:solidFill>
                  <a:schemeClr val="tx1"/>
                </a:solidFill>
                <a:latin typeface="+mn-lt"/>
                <a:ea typeface="+mn-ea"/>
                <a:cs typeface="+mn-cs"/>
              </a:rPr>
              <a:t>3. </a:t>
            </a:r>
            <a:r>
              <a:rPr lang="en-US" sz="1400" kern="1200" dirty="0">
                <a:solidFill>
                  <a:schemeClr val="tx1"/>
                </a:solidFill>
                <a:latin typeface="+mn-lt"/>
                <a:ea typeface="+mn-ea"/>
                <a:cs typeface="+mn-cs"/>
              </a:rPr>
              <a:t>Following this initial filtering, I further segmented the data into subsets, distinguishing between areas with a high percentage of the Black population and those with a low percentage.</a:t>
            </a:r>
            <a:endParaRPr lang="en-US" sz="1400" dirty="0"/>
          </a:p>
        </p:txBody>
      </p:sp>
      <p:sp>
        <p:nvSpPr>
          <p:cNvPr id="20" name="TextBox 19">
            <a:extLst>
              <a:ext uri="{FF2B5EF4-FFF2-40B4-BE49-F238E27FC236}">
                <a16:creationId xmlns:a16="http://schemas.microsoft.com/office/drawing/2014/main" id="{0840A4E5-8483-93B9-36F0-76A39DA3E04C}"/>
              </a:ext>
            </a:extLst>
          </p:cNvPr>
          <p:cNvSpPr txBox="1"/>
          <p:nvPr/>
        </p:nvSpPr>
        <p:spPr>
          <a:xfrm>
            <a:off x="457425" y="4849064"/>
            <a:ext cx="4166083" cy="954107"/>
          </a:xfrm>
          <a:prstGeom prst="rect">
            <a:avLst/>
          </a:prstGeom>
          <a:noFill/>
        </p:spPr>
        <p:txBody>
          <a:bodyPr wrap="square">
            <a:spAutoFit/>
          </a:bodyPr>
          <a:lstStyle/>
          <a:p>
            <a:pPr defTabSz="859536"/>
            <a:r>
              <a:rPr lang="en-US" sz="1400" b="1" kern="1200" dirty="0">
                <a:solidFill>
                  <a:schemeClr val="tx1"/>
                </a:solidFill>
                <a:latin typeface="+mn-lt"/>
                <a:ea typeface="+mn-ea"/>
                <a:cs typeface="+mn-cs"/>
              </a:rPr>
              <a:t>4. </a:t>
            </a:r>
            <a:r>
              <a:rPr lang="en-US" sz="1400" kern="1200" dirty="0">
                <a:solidFill>
                  <a:schemeClr val="tx1"/>
                </a:solidFill>
                <a:latin typeface="+mn-lt"/>
                <a:ea typeface="+mn-ea"/>
                <a:cs typeface="+mn-cs"/>
              </a:rPr>
              <a:t>Similarly, I applied the same approach to the Latin community, creating distinct datasets for regions with varying Latin population percentages.</a:t>
            </a:r>
          </a:p>
        </p:txBody>
      </p:sp>
      <p:sp>
        <p:nvSpPr>
          <p:cNvPr id="22" name="TextBox 21">
            <a:extLst>
              <a:ext uri="{FF2B5EF4-FFF2-40B4-BE49-F238E27FC236}">
                <a16:creationId xmlns:a16="http://schemas.microsoft.com/office/drawing/2014/main" id="{BF9C0223-8201-55BF-9C0F-BD1B8B56905F}"/>
              </a:ext>
            </a:extLst>
          </p:cNvPr>
          <p:cNvSpPr txBox="1"/>
          <p:nvPr/>
        </p:nvSpPr>
        <p:spPr>
          <a:xfrm>
            <a:off x="7683589" y="5245795"/>
            <a:ext cx="4009505" cy="954107"/>
          </a:xfrm>
          <a:prstGeom prst="rect">
            <a:avLst/>
          </a:prstGeom>
          <a:noFill/>
        </p:spPr>
        <p:txBody>
          <a:bodyPr wrap="square">
            <a:spAutoFit/>
          </a:bodyPr>
          <a:lstStyle/>
          <a:p>
            <a:pPr defTabSz="859536"/>
            <a:r>
              <a:rPr lang="en-US" sz="1400" b="1" dirty="0"/>
              <a:t>5. </a:t>
            </a:r>
            <a:r>
              <a:rPr lang="en-US" sz="1400" b="1" kern="1200" dirty="0">
                <a:solidFill>
                  <a:schemeClr val="tx1"/>
                </a:solidFill>
                <a:latin typeface="+mn-lt"/>
                <a:ea typeface="+mn-ea"/>
                <a:cs typeface="+mn-cs"/>
              </a:rPr>
              <a:t> </a:t>
            </a:r>
            <a:r>
              <a:rPr lang="en-US" sz="1400" kern="1200" dirty="0">
                <a:solidFill>
                  <a:schemeClr val="tx1"/>
                </a:solidFill>
                <a:latin typeface="+mn-lt"/>
                <a:ea typeface="+mn-ea"/>
                <a:cs typeface="+mn-cs"/>
              </a:rPr>
              <a:t>The entire analytical process was conducted using the </a:t>
            </a:r>
            <a:r>
              <a:rPr lang="en-US" sz="1400" b="1" kern="1200" dirty="0">
                <a:solidFill>
                  <a:schemeClr val="tx1"/>
                </a:solidFill>
                <a:latin typeface="+mn-lt"/>
                <a:ea typeface="+mn-ea"/>
                <a:cs typeface="+mn-cs"/>
              </a:rPr>
              <a:t>R programming language</a:t>
            </a:r>
            <a:r>
              <a:rPr lang="en-US" sz="1400" kern="1200" dirty="0">
                <a:solidFill>
                  <a:schemeClr val="tx1"/>
                </a:solidFill>
                <a:latin typeface="+mn-lt"/>
                <a:ea typeface="+mn-ea"/>
                <a:cs typeface="+mn-cs"/>
              </a:rPr>
              <a:t>, ensuring an organized and precise exploration of the specified variables and demographic groups.</a:t>
            </a:r>
            <a:endParaRPr lang="en-US" sz="1400" dirty="0"/>
          </a:p>
        </p:txBody>
      </p:sp>
    </p:spTree>
    <p:extLst>
      <p:ext uri="{BB962C8B-B14F-4D97-AF65-F5344CB8AC3E}">
        <p14:creationId xmlns:p14="http://schemas.microsoft.com/office/powerpoint/2010/main" val="719352820"/>
      </p:ext>
    </p:extLst>
  </p:cSld>
  <p:clrMapOvr>
    <a:masterClrMapping/>
  </p:clrMapOvr>
  <mc:AlternateContent xmlns:mc="http://schemas.openxmlformats.org/markup-compatibility/2006" xmlns:p14="http://schemas.microsoft.com/office/powerpoint/2010/main">
    <mc:Choice Requires="p14">
      <p:transition spd="slow" p14:dur="2000" advTm="58627"/>
    </mc:Choice>
    <mc:Fallback xmlns="">
      <p:transition spd="slow" advTm="5862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6896FB-0469-7A71-692E-E7BDFDC38E9E}"/>
              </a:ext>
            </a:extLst>
          </p:cNvPr>
          <p:cNvSpPr>
            <a:spLocks noGrp="1"/>
          </p:cNvSpPr>
          <p:nvPr>
            <p:ph idx="1"/>
          </p:nvPr>
        </p:nvSpPr>
        <p:spPr>
          <a:xfrm>
            <a:off x="473982" y="488542"/>
            <a:ext cx="11244036" cy="5880916"/>
          </a:xfrm>
          <a:solidFill>
            <a:schemeClr val="accent1">
              <a:lumMod val="40000"/>
              <a:lumOff val="60000"/>
            </a:schemeClr>
          </a:solidFill>
          <a:ln>
            <a:solidFill>
              <a:schemeClr val="accent1">
                <a:lumMod val="60000"/>
                <a:lumOff val="40000"/>
              </a:schemeClr>
            </a:solidFill>
          </a:ln>
        </p:spPr>
        <p:txBody>
          <a:bodyPr anchor="ctr">
            <a:normAutofit/>
          </a:bodyPr>
          <a:lstStyle/>
          <a:p>
            <a:pPr marL="0" indent="0" algn="ctr">
              <a:buNone/>
            </a:pPr>
            <a:r>
              <a:rPr lang="en-US" sz="6000" b="1" dirty="0">
                <a:solidFill>
                  <a:srgbClr val="FFFFFF"/>
                </a:solidFill>
                <a:latin typeface="American Typewriter" panose="02090604020004020304" pitchFamily="18" charset="77"/>
                <a:cs typeface="Times New Roman" panose="02020603050405020304" pitchFamily="18" charset="0"/>
              </a:rPr>
              <a:t>Results</a:t>
            </a:r>
          </a:p>
        </p:txBody>
      </p:sp>
    </p:spTree>
    <p:extLst>
      <p:ext uri="{BB962C8B-B14F-4D97-AF65-F5344CB8AC3E}">
        <p14:creationId xmlns:p14="http://schemas.microsoft.com/office/powerpoint/2010/main" val="3263489363"/>
      </p:ext>
    </p:extLst>
  </p:cSld>
  <p:clrMapOvr>
    <a:masterClrMapping/>
  </p:clrMapOvr>
  <mc:AlternateContent xmlns:mc="http://schemas.openxmlformats.org/markup-compatibility/2006" xmlns:p14="http://schemas.microsoft.com/office/powerpoint/2010/main">
    <mc:Choice Requires="p14">
      <p:transition spd="slow" p14:dur="2000" advTm="876"/>
    </mc:Choice>
    <mc:Fallback xmlns="">
      <p:transition spd="slow" advTm="87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AAB99F4C-333C-F5D0-A0A1-1B9F16A67D1A}"/>
              </a:ext>
            </a:extLst>
          </p:cNvPr>
          <p:cNvPicPr>
            <a:picLocks noChangeAspect="1"/>
          </p:cNvPicPr>
          <p:nvPr/>
        </p:nvPicPr>
        <p:blipFill>
          <a:blip r:embed="rId3"/>
          <a:stretch>
            <a:fillRect/>
          </a:stretch>
        </p:blipFill>
        <p:spPr>
          <a:xfrm>
            <a:off x="500826" y="480628"/>
            <a:ext cx="3434135" cy="4667569"/>
          </a:xfrm>
          <a:prstGeom prst="rect">
            <a:avLst/>
          </a:prstGeom>
        </p:spPr>
      </p:pic>
      <p:pic>
        <p:nvPicPr>
          <p:cNvPr id="15" name="Picture 14">
            <a:extLst>
              <a:ext uri="{FF2B5EF4-FFF2-40B4-BE49-F238E27FC236}">
                <a16:creationId xmlns:a16="http://schemas.microsoft.com/office/drawing/2014/main" id="{759B86C2-195B-D401-EDB3-074EAB4651CE}"/>
              </a:ext>
            </a:extLst>
          </p:cNvPr>
          <p:cNvPicPr>
            <a:picLocks noChangeAspect="1"/>
          </p:cNvPicPr>
          <p:nvPr/>
        </p:nvPicPr>
        <p:blipFill>
          <a:blip r:embed="rId4"/>
          <a:stretch>
            <a:fillRect/>
          </a:stretch>
        </p:blipFill>
        <p:spPr>
          <a:xfrm>
            <a:off x="4097534" y="480629"/>
            <a:ext cx="3434136" cy="4667569"/>
          </a:xfrm>
          <a:prstGeom prst="rect">
            <a:avLst/>
          </a:prstGeom>
        </p:spPr>
      </p:pic>
      <p:sp>
        <p:nvSpPr>
          <p:cNvPr id="3" name="TextBox 2">
            <a:extLst>
              <a:ext uri="{FF2B5EF4-FFF2-40B4-BE49-F238E27FC236}">
                <a16:creationId xmlns:a16="http://schemas.microsoft.com/office/drawing/2014/main" id="{38408D70-E964-DE9D-0161-A61D40B34F59}"/>
              </a:ext>
            </a:extLst>
          </p:cNvPr>
          <p:cNvSpPr txBox="1"/>
          <p:nvPr/>
        </p:nvSpPr>
        <p:spPr>
          <a:xfrm>
            <a:off x="7694243" y="468061"/>
            <a:ext cx="4105275" cy="5909310"/>
          </a:xfrm>
          <a:prstGeom prst="rect">
            <a:avLst/>
          </a:prstGeom>
          <a:noFill/>
        </p:spPr>
        <p:txBody>
          <a:bodyPr wrap="square">
            <a:spAutoFit/>
          </a:bodyPr>
          <a:lstStyle/>
          <a:p>
            <a:pPr marL="285750" indent="-285750">
              <a:buFont typeface="Arial" panose="020B0604020202020204" pitchFamily="34" charset="0"/>
              <a:buChar char="•"/>
            </a:pPr>
            <a:r>
              <a:rPr lang="en-US" sz="1400" dirty="0"/>
              <a:t>In the </a:t>
            </a:r>
            <a:r>
              <a:rPr lang="en-US" sz="1400" b="1" dirty="0"/>
              <a:t>left graph </a:t>
            </a:r>
            <a:r>
              <a:rPr lang="en-US" sz="1400" dirty="0"/>
              <a:t>it illustrates the compelling correlation between obesity and diabetes within a predominantly Black community as the x-axis represents obesity and the y-axis represents diabetes. On the right side of the graph, it shows a bar that represents the percentage of black in that community, 20 being the lowest percentage in that community which shows as a pink color on the graph, and 80 being the highest percentage of black population which is represented by blue. </a:t>
            </a:r>
          </a:p>
          <a:p>
            <a:pPr marL="285750" indent="-285750">
              <a:buFont typeface="Arial" panose="020B0604020202020204" pitchFamily="34" charset="0"/>
              <a:buChar char="•"/>
            </a:pPr>
            <a:r>
              <a:rPr lang="en-US" sz="1400" dirty="0"/>
              <a:t>Similarly, the </a:t>
            </a:r>
            <a:r>
              <a:rPr lang="en-US" sz="1400" b="1" dirty="0"/>
              <a:t>graph on the right </a:t>
            </a:r>
            <a:r>
              <a:rPr lang="en-US" sz="1400" dirty="0"/>
              <a:t>displays another diagram depicting the relationship between obesity and diabetes in a society primarily composed of Latin individuals; pink, which is 25 percent represent, the low Latin community, and blue which is 100 percent, and it represents the highest Latino population in the community. Both graphs display a noticeable pattern: as obesity rates increase, the likelihood of developing diabetes also rises significantly. Interestingly, upon examining the second part of my question, it becomes apparent that race may not be a determining factor influencing the increased risk of diabetes.</a:t>
            </a:r>
          </a:p>
        </p:txBody>
      </p:sp>
    </p:spTree>
    <p:extLst>
      <p:ext uri="{BB962C8B-B14F-4D97-AF65-F5344CB8AC3E}">
        <p14:creationId xmlns:p14="http://schemas.microsoft.com/office/powerpoint/2010/main" val="2986002095"/>
      </p:ext>
    </p:extLst>
  </p:cSld>
  <p:clrMapOvr>
    <a:masterClrMapping/>
  </p:clrMapOvr>
  <mc:AlternateContent xmlns:mc="http://schemas.openxmlformats.org/markup-compatibility/2006" xmlns:p14="http://schemas.microsoft.com/office/powerpoint/2010/main">
    <mc:Choice Requires="p14">
      <p:transition spd="slow" p14:dur="2000" advTm="77116"/>
    </mc:Choice>
    <mc:Fallback xmlns="">
      <p:transition spd="slow" advTm="7711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54405C0C-F40E-9B4B-C81B-95A9DE8C357F}"/>
              </a:ext>
            </a:extLst>
          </p:cNvPr>
          <p:cNvGraphicFramePr>
            <a:graphicFrameLocks noGrp="1"/>
          </p:cNvGraphicFramePr>
          <p:nvPr>
            <p:ph idx="1"/>
            <p:extLst>
              <p:ext uri="{D42A27DB-BD31-4B8C-83A1-F6EECF244321}">
                <p14:modId xmlns:p14="http://schemas.microsoft.com/office/powerpoint/2010/main" val="1992703693"/>
              </p:ext>
            </p:extLst>
          </p:nvPr>
        </p:nvGraphicFramePr>
        <p:xfrm>
          <a:off x="1066800" y="339268"/>
          <a:ext cx="10058400" cy="38496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72149BA8-FBFD-64DF-5182-D57655DE5970}"/>
              </a:ext>
            </a:extLst>
          </p:cNvPr>
          <p:cNvSpPr txBox="1"/>
          <p:nvPr/>
        </p:nvSpPr>
        <p:spPr>
          <a:xfrm>
            <a:off x="3045913" y="3769992"/>
            <a:ext cx="6100174" cy="1754326"/>
          </a:xfrm>
          <a:prstGeom prst="rect">
            <a:avLst/>
          </a:prstGeom>
          <a:noFill/>
        </p:spPr>
        <p:txBody>
          <a:bodyPr wrap="square">
            <a:spAutoFit/>
          </a:bodyPr>
          <a:lstStyle/>
          <a:p>
            <a:r>
              <a:rPr lang="en-US" dirty="0"/>
              <a:t>Next, I have the R</a:t>
            </a:r>
            <a:r>
              <a:rPr lang="en-US" baseline="30000" dirty="0"/>
              <a:t>2</a:t>
            </a:r>
            <a:r>
              <a:rPr lang="en-US" dirty="0"/>
              <a:t> for top 25 black community which is 0.6225, and The R</a:t>
            </a:r>
            <a:r>
              <a:rPr lang="en-US" baseline="30000" dirty="0"/>
              <a:t>2</a:t>
            </a:r>
            <a:r>
              <a:rPr lang="en-US" dirty="0"/>
              <a:t> for the top 25 Latin community is 0.418. When comparing the R</a:t>
            </a:r>
            <a:r>
              <a:rPr lang="en-US" baseline="30000" dirty="0"/>
              <a:t>2</a:t>
            </a:r>
            <a:r>
              <a:rPr lang="en-US" dirty="0"/>
              <a:t> from the graph previous shown the relationship between obesity and diabetes is stronger in community that have high black population verses then the one that have high Latin population.</a:t>
            </a:r>
          </a:p>
        </p:txBody>
      </p:sp>
    </p:spTree>
    <p:extLst>
      <p:ext uri="{BB962C8B-B14F-4D97-AF65-F5344CB8AC3E}">
        <p14:creationId xmlns:p14="http://schemas.microsoft.com/office/powerpoint/2010/main" val="3912678234"/>
      </p:ext>
    </p:extLst>
  </p:cSld>
  <p:clrMapOvr>
    <a:masterClrMapping/>
  </p:clrMapOvr>
  <mc:AlternateContent xmlns:mc="http://schemas.openxmlformats.org/markup-compatibility/2006" xmlns:p14="http://schemas.microsoft.com/office/powerpoint/2010/main">
    <mc:Choice Requires="p14">
      <p:transition spd="slow" p14:dur="2000" advTm="27163"/>
    </mc:Choice>
    <mc:Fallback xmlns="">
      <p:transition spd="slow" advTm="2716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6896FB-0469-7A71-692E-E7BDFDC38E9E}"/>
              </a:ext>
            </a:extLst>
          </p:cNvPr>
          <p:cNvSpPr>
            <a:spLocks noGrp="1"/>
          </p:cNvSpPr>
          <p:nvPr>
            <p:ph idx="1"/>
          </p:nvPr>
        </p:nvSpPr>
        <p:spPr>
          <a:xfrm>
            <a:off x="473982" y="488542"/>
            <a:ext cx="11244036" cy="5880916"/>
          </a:xfrm>
          <a:solidFill>
            <a:schemeClr val="accent1">
              <a:lumMod val="40000"/>
              <a:lumOff val="60000"/>
            </a:schemeClr>
          </a:solidFill>
          <a:ln>
            <a:solidFill>
              <a:schemeClr val="accent1">
                <a:lumMod val="60000"/>
                <a:lumOff val="40000"/>
              </a:schemeClr>
            </a:solidFill>
          </a:ln>
        </p:spPr>
        <p:txBody>
          <a:bodyPr anchor="ctr">
            <a:normAutofit/>
          </a:bodyPr>
          <a:lstStyle/>
          <a:p>
            <a:pPr marL="0" indent="0" algn="ctr">
              <a:buNone/>
            </a:pPr>
            <a:r>
              <a:rPr lang="en-US" sz="6000" b="1" dirty="0">
                <a:solidFill>
                  <a:srgbClr val="FFFFFF"/>
                </a:solidFill>
                <a:latin typeface="American Typewriter" panose="02090604020004020304" pitchFamily="18" charset="77"/>
                <a:cs typeface="Times New Roman" panose="02020603050405020304" pitchFamily="18" charset="0"/>
              </a:rPr>
              <a:t>Discussion</a:t>
            </a:r>
          </a:p>
        </p:txBody>
      </p:sp>
    </p:spTree>
    <p:extLst>
      <p:ext uri="{BB962C8B-B14F-4D97-AF65-F5344CB8AC3E}">
        <p14:creationId xmlns:p14="http://schemas.microsoft.com/office/powerpoint/2010/main" val="930912008"/>
      </p:ext>
    </p:extLst>
  </p:cSld>
  <p:clrMapOvr>
    <a:masterClrMapping/>
  </p:clrMapOvr>
  <mc:AlternateContent xmlns:mc="http://schemas.openxmlformats.org/markup-compatibility/2006" xmlns:p14="http://schemas.microsoft.com/office/powerpoint/2010/main">
    <mc:Choice Requires="p14">
      <p:transition spd="slow" p14:dur="2000" advTm="965"/>
    </mc:Choice>
    <mc:Fallback xmlns="">
      <p:transition spd="slow" advTm="96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27F36-2778-CA3E-6927-4813D567C999}"/>
              </a:ext>
            </a:extLst>
          </p:cNvPr>
          <p:cNvSpPr>
            <a:spLocks noGrp="1"/>
          </p:cNvSpPr>
          <p:nvPr>
            <p:ph type="title"/>
          </p:nvPr>
        </p:nvSpPr>
        <p:spPr>
          <a:xfrm>
            <a:off x="821587" y="806860"/>
            <a:ext cx="3813048" cy="5239512"/>
          </a:xfrm>
          <a:solidFill>
            <a:schemeClr val="accent1">
              <a:lumMod val="40000"/>
              <a:lumOff val="60000"/>
            </a:schemeClr>
          </a:solidFill>
        </p:spPr>
        <p:txBody>
          <a:bodyPr>
            <a:normAutofit/>
          </a:bodyPr>
          <a:lstStyle/>
          <a:p>
            <a:pPr algn="ctr"/>
            <a:r>
              <a:rPr lang="en-US" sz="4400" dirty="0">
                <a:solidFill>
                  <a:srgbClr val="FFFFFF"/>
                </a:solidFill>
              </a:rPr>
              <a:t>Conclusion</a:t>
            </a:r>
          </a:p>
        </p:txBody>
      </p:sp>
      <p:sp>
        <p:nvSpPr>
          <p:cNvPr id="3" name="Content Placeholder 2">
            <a:extLst>
              <a:ext uri="{FF2B5EF4-FFF2-40B4-BE49-F238E27FC236}">
                <a16:creationId xmlns:a16="http://schemas.microsoft.com/office/drawing/2014/main" id="{566A8020-C240-8F9F-DCEB-463F4D76B1BC}"/>
              </a:ext>
            </a:extLst>
          </p:cNvPr>
          <p:cNvSpPr>
            <a:spLocks noGrp="1"/>
          </p:cNvSpPr>
          <p:nvPr>
            <p:ph idx="1"/>
          </p:nvPr>
        </p:nvSpPr>
        <p:spPr>
          <a:xfrm>
            <a:off x="6096000" y="936416"/>
            <a:ext cx="5178168" cy="4985169"/>
          </a:xfrm>
        </p:spPr>
        <p:txBody>
          <a:bodyPr anchor="ctr">
            <a:normAutofit/>
          </a:bodyPr>
          <a:lstStyle/>
          <a:p>
            <a:pPr>
              <a:lnSpc>
                <a:spcPct val="100000"/>
              </a:lnSpc>
            </a:pPr>
            <a:r>
              <a:rPr lang="en-US" sz="1700" dirty="0"/>
              <a:t>The data have supported my hypothesis that obesity is a significant risk factor for developing diabetes. Both graphs demonstrate a clear association between obesity and an increased likelihood of diabetes. There was a slight difference in this risk factor between the black and the Latin communities.</a:t>
            </a:r>
          </a:p>
          <a:p>
            <a:pPr>
              <a:lnSpc>
                <a:spcPct val="100000"/>
              </a:lnSpc>
            </a:pPr>
            <a:r>
              <a:rPr lang="en-US" sz="1700" dirty="0"/>
              <a:t>Upon closer analysis, I observe a slight distinction in the impact of obesity on diabetes risk between the Black and Latin communities. While both groups show a heightened exposure, the extent of this risk appears to vary slightly.</a:t>
            </a:r>
          </a:p>
          <a:p>
            <a:pPr>
              <a:lnSpc>
                <a:spcPct val="100000"/>
              </a:lnSpc>
            </a:pPr>
            <a:r>
              <a:rPr lang="en-US" sz="1700" dirty="0"/>
              <a:t>Recognizing the unique health dynamics within different racial or ethnic communities, we can develop targeted strategies to prevent and manage diabetes effectively.</a:t>
            </a:r>
          </a:p>
        </p:txBody>
      </p:sp>
    </p:spTree>
    <p:extLst>
      <p:ext uri="{BB962C8B-B14F-4D97-AF65-F5344CB8AC3E}">
        <p14:creationId xmlns:p14="http://schemas.microsoft.com/office/powerpoint/2010/main" val="50836111"/>
      </p:ext>
    </p:extLst>
  </p:cSld>
  <p:clrMapOvr>
    <a:masterClrMapping/>
  </p:clrMapOvr>
  <mc:AlternateContent xmlns:mc="http://schemas.openxmlformats.org/markup-compatibility/2006" xmlns:p14="http://schemas.microsoft.com/office/powerpoint/2010/main">
    <mc:Choice Requires="p14">
      <p:transition spd="slow" p14:dur="2000" advTm="38183"/>
    </mc:Choice>
    <mc:Fallback xmlns="">
      <p:transition spd="slow" advTm="3818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B2DC5-4A1E-DCA4-C875-1D32A0D0EC61}"/>
              </a:ext>
            </a:extLst>
          </p:cNvPr>
          <p:cNvSpPr>
            <a:spLocks noGrp="1"/>
          </p:cNvSpPr>
          <p:nvPr>
            <p:ph type="title"/>
          </p:nvPr>
        </p:nvSpPr>
        <p:spPr/>
        <p:txBody>
          <a:bodyPr/>
          <a:lstStyle/>
          <a:p>
            <a:r>
              <a:rPr lang="en-US" dirty="0"/>
              <a:t>Acknowledgements</a:t>
            </a:r>
          </a:p>
        </p:txBody>
      </p:sp>
      <p:sp>
        <p:nvSpPr>
          <p:cNvPr id="3" name="Content Placeholder 2">
            <a:extLst>
              <a:ext uri="{FF2B5EF4-FFF2-40B4-BE49-F238E27FC236}">
                <a16:creationId xmlns:a16="http://schemas.microsoft.com/office/drawing/2014/main" id="{F1AEE974-3DC4-027A-362E-801D42FC41E1}"/>
              </a:ext>
            </a:extLst>
          </p:cNvPr>
          <p:cNvSpPr>
            <a:spLocks noGrp="1"/>
          </p:cNvSpPr>
          <p:nvPr>
            <p:ph idx="1"/>
          </p:nvPr>
        </p:nvSpPr>
        <p:spPr/>
        <p:txBody>
          <a:bodyPr/>
          <a:lstStyle/>
          <a:p>
            <a:r>
              <a:rPr lang="en-US" dirty="0"/>
              <a:t>NIH Grant Number P20CA264068 – VSU-MCC Partnership for Cancer Disparities Research and Training Program (SUCCEED)</a:t>
            </a:r>
          </a:p>
          <a:p>
            <a:r>
              <a:rPr lang="en-US" dirty="0"/>
              <a:t>USDA Award Number 2023-38821-39588-CBG: Development of a Center for Social Data Analytics at Virginia State University</a:t>
            </a:r>
          </a:p>
          <a:p>
            <a:r>
              <a:rPr lang="en-US" dirty="0" err="1"/>
              <a:t>Datacamp</a:t>
            </a:r>
            <a:endParaRPr lang="en-US" dirty="0"/>
          </a:p>
          <a:p>
            <a:r>
              <a:rPr lang="en-US" dirty="0"/>
              <a:t>Dr. Milton </a:t>
            </a:r>
            <a:r>
              <a:rPr lang="en-US"/>
              <a:t>O Faison- Associate Vice Provost, Research &amp; Economic Development</a:t>
            </a:r>
            <a:endParaRPr lang="en-US" dirty="0"/>
          </a:p>
        </p:txBody>
      </p:sp>
    </p:spTree>
    <p:extLst>
      <p:ext uri="{BB962C8B-B14F-4D97-AF65-F5344CB8AC3E}">
        <p14:creationId xmlns:p14="http://schemas.microsoft.com/office/powerpoint/2010/main" val="2409444462"/>
      </p:ext>
    </p:extLst>
  </p:cSld>
  <p:clrMapOvr>
    <a:masterClrMapping/>
  </p:clrMapOvr>
  <mc:AlternateContent xmlns:mc="http://schemas.openxmlformats.org/markup-compatibility/2006" xmlns:p14="http://schemas.microsoft.com/office/powerpoint/2010/main">
    <mc:Choice Requires="p14">
      <p:transition spd="slow" p14:dur="2000" advTm="1942"/>
    </mc:Choice>
    <mc:Fallback xmlns="">
      <p:transition spd="slow" advTm="194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4C973-8977-65AF-BA08-A316F4863967}"/>
              </a:ext>
            </a:extLst>
          </p:cNvPr>
          <p:cNvSpPr>
            <a:spLocks noGrp="1"/>
          </p:cNvSpPr>
          <p:nvPr>
            <p:ph type="title"/>
          </p:nvPr>
        </p:nvSpPr>
        <p:spPr/>
        <p:txBody>
          <a:bodyPr/>
          <a:lstStyle/>
          <a:p>
            <a:r>
              <a:rPr lang="en-US" dirty="0"/>
              <a:t>Reference</a:t>
            </a:r>
          </a:p>
        </p:txBody>
      </p:sp>
      <p:sp>
        <p:nvSpPr>
          <p:cNvPr id="3" name="Content Placeholder 2">
            <a:extLst>
              <a:ext uri="{FF2B5EF4-FFF2-40B4-BE49-F238E27FC236}">
                <a16:creationId xmlns:a16="http://schemas.microsoft.com/office/drawing/2014/main" id="{C084CFF7-C980-2072-DF8A-A873B5D9767A}"/>
              </a:ext>
            </a:extLst>
          </p:cNvPr>
          <p:cNvSpPr>
            <a:spLocks noGrp="1"/>
          </p:cNvSpPr>
          <p:nvPr>
            <p:ph idx="1"/>
          </p:nvPr>
        </p:nvSpPr>
        <p:spPr/>
        <p:txBody>
          <a:bodyPr/>
          <a:lstStyle/>
          <a:p>
            <a:r>
              <a:rPr lang="en-US" dirty="0">
                <a:effectLst/>
              </a:rPr>
              <a:t>Jackson, Sharon H, et al. “Longitudinal Associations between Obesity, Inflammation, and the Incidence of Type 2 Diabetes Mellitus among Us Black and White Adults in the Cardia Study.” </a:t>
            </a:r>
            <a:r>
              <a:rPr lang="en-US" i="1" dirty="0">
                <a:effectLst/>
              </a:rPr>
              <a:t>Journal of Diabetes Research</a:t>
            </a:r>
            <a:r>
              <a:rPr lang="en-US" dirty="0">
                <a:effectLst/>
              </a:rPr>
              <a:t>, 15 Aug. 2020, </a:t>
            </a:r>
            <a:r>
              <a:rPr lang="en-US" dirty="0">
                <a:solidFill>
                  <a:schemeClr val="accent5">
                    <a:lumMod val="75000"/>
                  </a:schemeClr>
                </a:solidFill>
                <a:effectLst/>
                <a:hlinkClick r:id="rId2">
                  <a:extLst>
                    <a:ext uri="{A12FA001-AC4F-418D-AE19-62706E023703}">
                      <ahyp:hlinkClr xmlns:ahyp="http://schemas.microsoft.com/office/drawing/2018/hyperlinkcolor" val="tx"/>
                    </a:ext>
                  </a:extLst>
                </a:hlinkClick>
              </a:rPr>
              <a:t>www.ncbi.nlm.nih.gov/pmc/articles/PMC7448246/</a:t>
            </a:r>
            <a:endParaRPr lang="en-US" dirty="0">
              <a:solidFill>
                <a:schemeClr val="accent5">
                  <a:lumMod val="75000"/>
                </a:schemeClr>
              </a:solidFill>
              <a:effectLst/>
            </a:endParaRPr>
          </a:p>
          <a:p>
            <a:r>
              <a:rPr lang="en-US" dirty="0">
                <a:effectLst/>
              </a:rPr>
              <a:t>Golden, Sherita H, et al. “Racial/Ethnic Differences in the Burden of Type 2 Diabetes over the Life Course: A Focus on the USA and India.” </a:t>
            </a:r>
            <a:r>
              <a:rPr lang="en-US" i="1" dirty="0" err="1">
                <a:effectLst/>
              </a:rPr>
              <a:t>Diabetologia</a:t>
            </a:r>
            <a:r>
              <a:rPr lang="en-US" dirty="0">
                <a:effectLst/>
              </a:rPr>
              <a:t>, Oct. 2019, </a:t>
            </a:r>
            <a:r>
              <a:rPr lang="en-US" dirty="0">
                <a:solidFill>
                  <a:schemeClr val="accent5">
                    <a:lumMod val="75000"/>
                  </a:schemeClr>
                </a:solidFill>
                <a:effectLst/>
                <a:hlinkClick r:id="rId3">
                  <a:extLst>
                    <a:ext uri="{A12FA001-AC4F-418D-AE19-62706E023703}">
                      <ahyp:hlinkClr xmlns:ahyp="http://schemas.microsoft.com/office/drawing/2018/hyperlinkcolor" val="tx"/>
                    </a:ext>
                  </a:extLst>
                </a:hlinkClick>
              </a:rPr>
              <a:t>www.ncbi.nlm.nih.gov/pmc/articles/PMC7181870/</a:t>
            </a:r>
            <a:endParaRPr lang="en-US" dirty="0">
              <a:solidFill>
                <a:schemeClr val="accent5">
                  <a:lumMod val="75000"/>
                </a:schemeClr>
              </a:solidFill>
              <a:effectLst/>
            </a:endParaRPr>
          </a:p>
          <a:p>
            <a:r>
              <a:rPr lang="en-US" dirty="0">
                <a:effectLst/>
              </a:rPr>
              <a:t>Hardy, Dale S, et al. “Anthropometric Discriminators of Type 2 Diabetes among White and Black American Adults.” </a:t>
            </a:r>
            <a:r>
              <a:rPr lang="en-US" i="1" dirty="0">
                <a:effectLst/>
              </a:rPr>
              <a:t>Journal of Diabetes</a:t>
            </a:r>
            <a:r>
              <a:rPr lang="en-US" dirty="0">
                <a:effectLst/>
              </a:rPr>
              <a:t>, Mar. 2017, </a:t>
            </a:r>
            <a:r>
              <a:rPr lang="en-US" dirty="0">
                <a:solidFill>
                  <a:schemeClr val="accent5">
                    <a:lumMod val="75000"/>
                  </a:schemeClr>
                </a:solidFill>
                <a:effectLst/>
                <a:hlinkClick r:id="rId4">
                  <a:extLst>
                    <a:ext uri="{A12FA001-AC4F-418D-AE19-62706E023703}">
                      <ahyp:hlinkClr xmlns:ahyp="http://schemas.microsoft.com/office/drawing/2018/hyperlinkcolor" val="tx"/>
                    </a:ext>
                  </a:extLst>
                </a:hlinkClick>
              </a:rPr>
              <a:t>www.ncbi.nlm.nih.gov/pmc/articles/PMC5079832/</a:t>
            </a:r>
            <a:endParaRPr lang="en-US" dirty="0">
              <a:effectLst/>
            </a:endParaRPr>
          </a:p>
          <a:p>
            <a:endParaRPr lang="en-US" dirty="0">
              <a:effectLst/>
            </a:endParaRPr>
          </a:p>
          <a:p>
            <a:endParaRPr lang="en-US" dirty="0">
              <a:effectLst/>
            </a:endParaRPr>
          </a:p>
          <a:p>
            <a:endParaRPr lang="en-US" dirty="0">
              <a:effectLst/>
            </a:endParaRPr>
          </a:p>
          <a:p>
            <a:endParaRPr lang="en-US" dirty="0">
              <a:effectLst/>
            </a:endParaRPr>
          </a:p>
          <a:p>
            <a:endParaRPr lang="en-US" dirty="0"/>
          </a:p>
        </p:txBody>
      </p:sp>
    </p:spTree>
    <p:extLst>
      <p:ext uri="{BB962C8B-B14F-4D97-AF65-F5344CB8AC3E}">
        <p14:creationId xmlns:p14="http://schemas.microsoft.com/office/powerpoint/2010/main" val="4232752915"/>
      </p:ext>
    </p:extLst>
  </p:cSld>
  <p:clrMapOvr>
    <a:masterClrMapping/>
  </p:clrMapOvr>
  <mc:AlternateContent xmlns:mc="http://schemas.openxmlformats.org/markup-compatibility/2006" xmlns:p14="http://schemas.microsoft.com/office/powerpoint/2010/main">
    <mc:Choice Requires="p14">
      <p:transition spd="slow" p14:dur="2000" advTm="2718"/>
    </mc:Choice>
    <mc:Fallback xmlns="">
      <p:transition spd="slow" advTm="2718"/>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6896FB-0469-7A71-692E-E7BDFDC38E9E}"/>
              </a:ext>
            </a:extLst>
          </p:cNvPr>
          <p:cNvSpPr>
            <a:spLocks noGrp="1"/>
          </p:cNvSpPr>
          <p:nvPr>
            <p:ph idx="1"/>
          </p:nvPr>
        </p:nvSpPr>
        <p:spPr>
          <a:xfrm>
            <a:off x="473982" y="488542"/>
            <a:ext cx="11244036" cy="5880916"/>
          </a:xfrm>
          <a:solidFill>
            <a:schemeClr val="accent1">
              <a:lumMod val="40000"/>
              <a:lumOff val="60000"/>
            </a:schemeClr>
          </a:solidFill>
          <a:ln>
            <a:solidFill>
              <a:schemeClr val="accent1">
                <a:lumMod val="60000"/>
                <a:lumOff val="40000"/>
              </a:schemeClr>
            </a:solidFill>
          </a:ln>
        </p:spPr>
        <p:txBody>
          <a:bodyPr anchor="ctr">
            <a:normAutofit/>
          </a:bodyPr>
          <a:lstStyle/>
          <a:p>
            <a:pPr marL="0" indent="0" algn="ctr">
              <a:buNone/>
            </a:pPr>
            <a:r>
              <a:rPr lang="en-US" sz="6000" b="1" dirty="0">
                <a:solidFill>
                  <a:srgbClr val="FFFFFF"/>
                </a:solidFill>
                <a:latin typeface="American Typewriter" panose="02090604020004020304" pitchFamily="18" charset="77"/>
                <a:cs typeface="Times New Roman" panose="02020603050405020304" pitchFamily="18" charset="0"/>
              </a:rPr>
              <a:t>Question?</a:t>
            </a:r>
          </a:p>
        </p:txBody>
      </p:sp>
    </p:spTree>
    <p:extLst>
      <p:ext uri="{BB962C8B-B14F-4D97-AF65-F5344CB8AC3E}">
        <p14:creationId xmlns:p14="http://schemas.microsoft.com/office/powerpoint/2010/main" val="3022251619"/>
      </p:ext>
    </p:extLst>
  </p:cSld>
  <p:clrMapOvr>
    <a:masterClrMapping/>
  </p:clrMapOvr>
  <mc:AlternateContent xmlns:mc="http://schemas.openxmlformats.org/markup-compatibility/2006" xmlns:p14="http://schemas.microsoft.com/office/powerpoint/2010/main">
    <mc:Choice Requires="p14">
      <p:transition spd="slow" p14:dur="2000" advTm="436"/>
    </mc:Choice>
    <mc:Fallback xmlns="">
      <p:transition spd="slow" advTm="436"/>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AnalogousFromRegularSeedLeftStep">
      <a:dk1>
        <a:srgbClr val="000000"/>
      </a:dk1>
      <a:lt1>
        <a:srgbClr val="FFFFFF"/>
      </a:lt1>
      <a:dk2>
        <a:srgbClr val="1B2830"/>
      </a:dk2>
      <a:lt2>
        <a:srgbClr val="F0F3F1"/>
      </a:lt2>
      <a:accent1>
        <a:srgbClr val="E32D9B"/>
      </a:accent1>
      <a:accent2>
        <a:srgbClr val="CD1BD1"/>
      </a:accent2>
      <a:accent3>
        <a:srgbClr val="932DE3"/>
      </a:accent3>
      <a:accent4>
        <a:srgbClr val="4E36D6"/>
      </a:accent4>
      <a:accent5>
        <a:srgbClr val="2D5EE3"/>
      </a:accent5>
      <a:accent6>
        <a:srgbClr val="1B98D1"/>
      </a:accent6>
      <a:hlink>
        <a:srgbClr val="349C5D"/>
      </a:hlink>
      <a:folHlink>
        <a:srgbClr val="7F7F7F"/>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2511</TotalTime>
  <Words>1251</Words>
  <Application>Microsoft Macintosh PowerPoint</Application>
  <PresentationFormat>Widescreen</PresentationFormat>
  <Paragraphs>63</Paragraphs>
  <Slides>15</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American Typewriter</vt:lpstr>
      <vt:lpstr>Arial</vt:lpstr>
      <vt:lpstr>Avenir Next LT Pro</vt:lpstr>
      <vt:lpstr>Avenir Next LT Pro Light</vt:lpstr>
      <vt:lpstr>Calibri</vt:lpstr>
      <vt:lpstr>Garamond</vt:lpstr>
      <vt:lpstr>SavonVTI</vt:lpstr>
      <vt:lpstr>Exploring the Obesity-Diabetes Relationship in Black and LATIN Communities</vt:lpstr>
      <vt:lpstr>PowerPoint Presentation</vt:lpstr>
      <vt:lpstr>BACKGROUND</vt:lpstr>
      <vt:lpstr>Research Question</vt:lpstr>
      <vt:lpstr>Literature Review</vt:lpstr>
      <vt:lpstr>PowerPoint Presentation</vt:lpstr>
      <vt:lpstr>PowerPoint Presentation</vt:lpstr>
      <vt:lpstr>PowerPoint Presentation</vt:lpstr>
      <vt:lpstr>PowerPoint Presentation</vt:lpstr>
      <vt:lpstr>PowerPoint Presentation</vt:lpstr>
      <vt:lpstr>PowerPoint Presentation</vt:lpstr>
      <vt:lpstr>Conclusion</vt:lpstr>
      <vt:lpstr>Acknowledgements</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Exploring the Obesity-Diabetes Relationship in Black and LATIN Communities</dc:title>
  <dc:creator>Manuela Deigh</dc:creator>
  <cp:lastModifiedBy>Manuela Deigh</cp:lastModifiedBy>
  <cp:revision>13</cp:revision>
  <dcterms:created xsi:type="dcterms:W3CDTF">2024-02-02T14:10:46Z</dcterms:created>
  <dcterms:modified xsi:type="dcterms:W3CDTF">2024-12-24T22:55:38Z</dcterms:modified>
</cp:coreProperties>
</file>